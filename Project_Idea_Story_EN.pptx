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dea" id="{c1e372f9-1e03-a8d2-75b2-5da42c405069}">
          <p14:sldIdLst>
            <p14:sldId id="256"/>
          </p14:sldIdLst>
        </p14:section>
        <p14:section name="The story" id="{41ee6007-fe46-c8d2-a611-6242ca930a20}">
          <p14:sldIdLst>
            <p14:sldId id="257"/>
          </p14:sldIdLst>
        </p14:section>
        <p14:section name="The data and the journey" id="{41347573-bbf8-66b9-6f69-67fa7956b89b}">
          <p14:sldIdLst>
            <p14:sldId id="258"/>
            <p14:sldId id="259"/>
          </p14:sldIdLst>
        </p14:section>
        <p14:section name="The goal" id="{b82fbccf-df72-e0d8-04e5-66a468d38de5}">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302B"/>
                </a:solidFill>
                <a:latin typeface="+mn-lt"/>
              </a:defRPr>
            </a:pPr>
            <a:r>
              <a:rPr sz="1400" b="0" i="0" u="none" strike="noStrike">
                <a:solidFill>
                  <a:srgbClr val="10302B"/>
                </a:solidFill>
                <a:latin typeface="+mn-lt"/>
              </a:rPr>
              <a:t>Most apps are free (share of apps, %)</a:t>
            </a:r>
          </a:p>
        </c:rich>
      </c:tx>
      <c:layout/>
      <c:overlay val="0"/>
    </c:title>
    <c:autoTitleDeleted val="0"/>
    <c:plotArea>
      <c:layout/>
      <c:doughnutChart>
        <c:varyColors val="1"/>
        <c:ser>
          <c:idx val="0"/>
          <c:order val="0"/>
          <c:tx>
            <c:strRef>
              <c:f>Sheet1!$B$1</c:f>
              <c:strCache>
                <c:ptCount val="1"/>
                <c:pt idx="0">
                  <c:v>Share of apps</c:v>
                </c:pt>
              </c:strCache>
            </c:strRef>
          </c:tx>
          <c:spPr>
            <a:solidFill>
              <a:schemeClr val="accent1"/>
            </a:solidFill>
            <a:ln w="9525" cap="flat">
              <a:solidFill>
                <a:srgbClr val="F9F9F9"/>
              </a:solidFill>
              <a:prstDash val="solid"/>
              <a:round/>
            </a:ln>
            <a:effectLst/>
          </c:spPr>
          <c:dPt>
            <c:idx val="0"/>
            <c:bubble3D val="0"/>
            <c:spPr>
              <a:solidFill>
                <a:srgbClr val="1FA37A"/>
              </a:solidFill>
              <a:ln w="25400" cap="flat">
                <a:solidFill>
                  <a:srgbClr val="EAF5F0"/>
                </a:solidFill>
                <a:prstDash val="solid"/>
                <a:round/>
              </a:ln>
              <a:effectLst/>
            </c:spPr>
          </c:dPt>
          <c:dPt>
            <c:idx val="1"/>
            <c:bubble3D val="0"/>
            <c:spPr>
              <a:solidFill>
                <a:srgbClr val="FF7A59"/>
              </a:solidFill>
              <a:ln w="25400" cap="flat">
                <a:solidFill>
                  <a:srgbClr val="EAF5F0"/>
                </a:solidFill>
                <a:prstDash val="solid"/>
                <a:round/>
              </a:ln>
              <a:effectLst/>
            </c:spPr>
          </c:dPt>
          <c:dLbls>
            <c:dLbl>
              <c:idx val="0"/>
              <c:numFmt formatCode="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1"/>
              <c:numFmt formatCode="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Free</c:v>
                </c:pt>
                <c:pt idx="1">
                  <c:v>Paid</c:v>
                </c:pt>
              </c:strCache>
            </c:strRef>
          </c:cat>
          <c:val>
            <c:numRef>
              <c:f>Sheet1!$B$2:$B$3</c:f>
              <c:numCache>
                <c:ptCount val="2"/>
                <c:pt idx="0">
                  <c:v>93</c:v>
                </c:pt>
                <c:pt idx="1">
                  <c:v>7</c:v>
                </c:pt>
              </c:numCache>
            </c:numRef>
          </c:val>
        </c:ser>
        <c:firstSliceAng val="0"/>
        <c:holeSize val="58"/>
      </c:doughnutChart>
      <c:spPr>
        <a:noFill/>
        <a:ln>
          <a:noFill/>
        </a:ln>
        <a:effectLst/>
      </c:spPr>
    </c:plotArea>
    <c:legend>
      <c:legendPos val="r"/>
      <c:overlay val="0"/>
      <c:txPr>
        <a:bodyPr/>
        <a:lstStyle/>
        <a:p>
          <a:pPr>
            <a:defRPr sz="1400">
              <a:solidFill>
                <a:srgbClr val="1030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instead of starting with numbers, we start with a question. What makes an Android app succeed? Our project tries to answer it from real data on 10,841 apps from the Google Play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a developer has an app idea. Before spending months on it, they want to know which category fits, whether to go free or paid, how big the app should be, and how competitors are rated. Each question maps to columns that exist in our data (shown under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our map of the market: 10,841 apps, one row per app, 13 columns. It was collected from Google Play in 2018 by Lavanya Gupta and published on Kaggle under CC BY-SA 4.0. Even before analysis, the Kaggle page shows that about 93% of apps are free and about 7% are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has three chapters. Chapter 1 is done: we understood and cleaned the data. We found a broken row, 1,181 repeated apps, numbers stored as text, and missing ratings. From 10,841 rows we kept 9,656 clean apps, with every decision documented. Chapter 2 is the charts (Module 3). Chapter 3 is the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to turn the data into decisions. We will deliver clean, documented data, charts that explain the market, and clear takeaways for developers. We are also upfront about the limits: the data is from 2018, and Installs are ranges rather than exact numbers, so conclusions are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4754880" cy="192024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13816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502920"/>
            <a:ext cx="8138160" cy="12801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hone glow"/>
          <p:cNvSpPr/>
          <p:nvPr/>
        </p:nvSpPr>
        <p:spPr>
          <a:xfrm>
            <a:off x="5989320" y="502920"/>
            <a:ext cx="2468880" cy="4114800"/>
          </a:xfrm>
          <a:prstGeom prst="roundRect">
            <a:avLst>
              <a:gd name="adj" fmla="val 11111"/>
            </a:avLst>
          </a:prstGeom>
          <a:solidFill>
            <a:schemeClr val="bg1"/>
          </a:solidFill>
          <a:ln/>
        </p:spPr>
      </p:sp>
      <p:sp>
        <p:nvSpPr>
          <p:cNvPr id="3" name="Phone body"/>
          <p:cNvSpPr/>
          <p:nvPr/>
        </p:nvSpPr>
        <p:spPr>
          <a:xfrm>
            <a:off x="6172200" y="685800"/>
            <a:ext cx="2103120" cy="3749040"/>
          </a:xfrm>
          <a:prstGeom prst="roundRect">
            <a:avLst>
              <a:gd name="adj" fmla="val 12174"/>
            </a:avLst>
          </a:prstGeom>
          <a:solidFill>
            <a:schemeClr val="accent6"/>
          </a:solidFill>
          <a:ln/>
        </p:spPr>
      </p:sp>
      <p:sp>
        <p:nvSpPr>
          <p:cNvPr id="4" name="Phone screen"/>
          <p:cNvSpPr/>
          <p:nvPr/>
        </p:nvSpPr>
        <p:spPr>
          <a:xfrm>
            <a:off x="6291072" y="914400"/>
            <a:ext cx="1865376" cy="3291840"/>
          </a:xfrm>
          <a:prstGeom prst="roundRect">
            <a:avLst>
              <a:gd name="adj" fmla="val 7843"/>
            </a:avLst>
          </a:prstGeom>
          <a:solidFill>
            <a:schemeClr val="bg1"/>
          </a:solidFill>
          <a:ln/>
        </p:spPr>
      </p:sp>
      <p:sp>
        <p:nvSpPr>
          <p:cNvPr id="5" name="App tile 1"/>
          <p:cNvSpPr/>
          <p:nvPr/>
        </p:nvSpPr>
        <p:spPr>
          <a:xfrm>
            <a:off x="6419088" y="1097280"/>
            <a:ext cx="749808" cy="749808"/>
          </a:xfrm>
          <a:prstGeom prst="roundRect">
            <a:avLst>
              <a:gd name="adj" fmla="val 17073"/>
            </a:avLst>
          </a:prstGeom>
          <a:solidFill>
            <a:schemeClr val="accent6"/>
          </a:solidFill>
          <a:ln/>
        </p:spPr>
      </p:sp>
      <p:pic>
        <p:nvPicPr>
          <p:cNvPr id="6" name="App tile icon 1" descr="App icon">    </p:cNvPr>
          <p:cNvPicPr>
            <a:picLocks noChangeAspect="1"/>
          </p:cNvPicPr>
          <p:nvPr/>
        </p:nvPicPr>
        <p:blipFill>
          <a:blip r:embed="rId1"/>
          <a:stretch>
            <a:fillRect/>
          </a:stretch>
        </p:blipFill>
        <p:spPr>
          <a:xfrm>
            <a:off x="6601968" y="1280160"/>
            <a:ext cx="384048" cy="384048"/>
          </a:xfrm>
          <a:prstGeom prst="rect">
            <a:avLst/>
          </a:prstGeom>
        </p:spPr>
      </p:pic>
      <p:sp>
        <p:nvSpPr>
          <p:cNvPr id="7" name="App tile 2"/>
          <p:cNvSpPr/>
          <p:nvPr/>
        </p:nvSpPr>
        <p:spPr>
          <a:xfrm>
            <a:off x="7296912" y="1097280"/>
            <a:ext cx="749808" cy="749808"/>
          </a:xfrm>
          <a:prstGeom prst="roundRect">
            <a:avLst>
              <a:gd name="adj" fmla="val 17073"/>
            </a:avLst>
          </a:prstGeom>
          <a:solidFill>
            <a:schemeClr val="accent2"/>
          </a:solidFill>
          <a:ln/>
        </p:spPr>
      </p:sp>
      <p:pic>
        <p:nvPicPr>
          <p:cNvPr id="8" name="App tile icon 2" descr="App icon">    </p:cNvPr>
          <p:cNvPicPr>
            <a:picLocks noChangeAspect="1"/>
          </p:cNvPicPr>
          <p:nvPr/>
        </p:nvPicPr>
        <p:blipFill>
          <a:blip r:embed="rId2"/>
          <a:stretch>
            <a:fillRect/>
          </a:stretch>
        </p:blipFill>
        <p:spPr>
          <a:xfrm>
            <a:off x="7479792" y="1280160"/>
            <a:ext cx="384048" cy="384048"/>
          </a:xfrm>
          <a:prstGeom prst="rect">
            <a:avLst/>
          </a:prstGeom>
        </p:spPr>
      </p:pic>
      <p:sp>
        <p:nvSpPr>
          <p:cNvPr id="9" name="App tile 3"/>
          <p:cNvSpPr/>
          <p:nvPr/>
        </p:nvSpPr>
        <p:spPr>
          <a:xfrm>
            <a:off x="6419088" y="1975104"/>
            <a:ext cx="749808" cy="749808"/>
          </a:xfrm>
          <a:prstGeom prst="roundRect">
            <a:avLst>
              <a:gd name="adj" fmla="val 17073"/>
            </a:avLst>
          </a:prstGeom>
          <a:solidFill>
            <a:schemeClr val="accent4"/>
          </a:solidFill>
          <a:ln/>
        </p:spPr>
      </p:sp>
      <p:pic>
        <p:nvPicPr>
          <p:cNvPr id="10" name="App tile icon 3" descr="App icon">    </p:cNvPr>
          <p:cNvPicPr>
            <a:picLocks noChangeAspect="1"/>
          </p:cNvPicPr>
          <p:nvPr/>
        </p:nvPicPr>
        <p:blipFill>
          <a:blip r:embed="rId3"/>
          <a:stretch>
            <a:fillRect/>
          </a:stretch>
        </p:blipFill>
        <p:spPr>
          <a:xfrm>
            <a:off x="6601968" y="2157984"/>
            <a:ext cx="384048" cy="384048"/>
          </a:xfrm>
          <a:prstGeom prst="rect">
            <a:avLst/>
          </a:prstGeom>
        </p:spPr>
      </p:pic>
      <p:sp>
        <p:nvSpPr>
          <p:cNvPr id="11" name="App tile 4"/>
          <p:cNvSpPr/>
          <p:nvPr/>
        </p:nvSpPr>
        <p:spPr>
          <a:xfrm>
            <a:off x="7296912" y="1975104"/>
            <a:ext cx="749808" cy="749808"/>
          </a:xfrm>
          <a:prstGeom prst="roundRect">
            <a:avLst>
              <a:gd name="adj" fmla="val 17073"/>
            </a:avLst>
          </a:prstGeom>
          <a:solidFill>
            <a:schemeClr val="accent3"/>
          </a:solidFill>
          <a:ln/>
        </p:spPr>
      </p:sp>
      <p:pic>
        <p:nvPicPr>
          <p:cNvPr id="12" name="App tile icon 4" descr="App icon">    </p:cNvPr>
          <p:cNvPicPr>
            <a:picLocks noChangeAspect="1"/>
          </p:cNvPicPr>
          <p:nvPr/>
        </p:nvPicPr>
        <p:blipFill>
          <a:blip r:embed="rId4"/>
          <a:stretch>
            <a:fillRect/>
          </a:stretch>
        </p:blipFill>
        <p:spPr>
          <a:xfrm>
            <a:off x="7479792" y="2157984"/>
            <a:ext cx="384048" cy="384048"/>
          </a:xfrm>
          <a:prstGeom prst="rect">
            <a:avLst/>
          </a:prstGeom>
        </p:spPr>
      </p:pic>
      <p:sp>
        <p:nvSpPr>
          <p:cNvPr id="13" name="List line 1"/>
          <p:cNvSpPr/>
          <p:nvPr/>
        </p:nvSpPr>
        <p:spPr>
          <a:xfrm>
            <a:off x="6419088" y="2999232"/>
            <a:ext cx="1627632" cy="201168"/>
          </a:xfrm>
          <a:prstGeom prst="roundRect">
            <a:avLst>
              <a:gd name="adj" fmla="val 50000"/>
            </a:avLst>
          </a:prstGeom>
          <a:solidFill>
            <a:schemeClr val="bg2"/>
          </a:solidFill>
          <a:ln/>
        </p:spPr>
      </p:sp>
      <p:sp>
        <p:nvSpPr>
          <p:cNvPr id="14" name="List line 2"/>
          <p:cNvSpPr/>
          <p:nvPr/>
        </p:nvSpPr>
        <p:spPr>
          <a:xfrm>
            <a:off x="6419088" y="3364992"/>
            <a:ext cx="1216152" cy="201168"/>
          </a:xfrm>
          <a:prstGeom prst="roundRect">
            <a:avLst>
              <a:gd name="adj" fmla="val 50000"/>
            </a:avLst>
          </a:prstGeom>
          <a:solidFill>
            <a:schemeClr val="bg2"/>
          </a:solidFill>
          <a:ln/>
        </p:spPr>
      </p:sp>
      <p:sp>
        <p:nvSpPr>
          <p:cNvPr id="15" name="Apps chip"/>
          <p:cNvSpPr/>
          <p:nvPr/>
        </p:nvSpPr>
        <p:spPr>
          <a:xfrm>
            <a:off x="5394960" y="3794760"/>
            <a:ext cx="1417320" cy="457200"/>
          </a:xfrm>
          <a:prstGeom prst="roundRect">
            <a:avLst>
              <a:gd name="adj" fmla="val 50000"/>
            </a:avLst>
          </a:prstGeom>
          <a:solidFill>
            <a:schemeClr val="accent2"/>
          </a:solidFill>
          <a:ln/>
          <a:effectLst>
            <a:outerShdw sx="100000" sy="100000" kx="0" ky="0" algn="bl" rotWithShape="0" blurRad="101600" dist="38100" dir="5400000">
              <a:srgbClr val="000000">
                <a:alpha val="30000"/>
              </a:srgbClr>
            </a:outerShdw>
          </a:effectLst>
        </p:spPr>
      </p:sp>
      <p:sp>
        <p:nvSpPr>
          <p:cNvPr id="16" name="Apps chip text"/>
          <p:cNvSpPr txBox="1"/>
          <p:nvPr/>
        </p:nvSpPr>
        <p:spPr>
          <a:xfrm>
            <a:off x="5394960" y="3794760"/>
            <a:ext cx="1417320" cy="457200"/>
          </a:xfrm>
          <a:prstGeom prst="rect">
            <a:avLst/>
          </a:prstGeom>
          <a:noFill/>
          <a:ln/>
        </p:spPr>
        <p:txBody>
          <a:bodyPr wrap="square" lIns="0" tIns="0" rIns="0" bIns="0" rtlCol="0" anchor="ctr"/>
          <a:lstStyle/>
          <a:p>
            <a:pPr algn="ctr" indent="0" marL="0">
              <a:buNone/>
            </a:pPr>
            <a:r>
              <a:rPr lang="en-US" sz="1500" b="1" dirty="0">
                <a:solidFill>
                  <a:schemeClr val="bg1"/>
                </a:solidFill>
              </a:rPr>
              <a:t>10,841 apps</a:t>
            </a:r>
            <a:endParaRPr lang="en-US" sz="1500" dirty="0"/>
          </a:p>
        </p:txBody>
      </p:sp>
      <p:sp>
        <p:nvSpPr>
          <p:cNvPr id="17" name="Eyebrow"/>
          <p:cNvSpPr txBox="1"/>
          <p:nvPr/>
        </p:nvSpPr>
        <p:spPr>
          <a:xfrm>
            <a:off x="640080" y="777240"/>
            <a:ext cx="4754880" cy="320040"/>
          </a:xfrm>
          <a:prstGeom prst="rect">
            <a:avLst/>
          </a:prstGeom>
          <a:noFill/>
          <a:ln/>
        </p:spPr>
        <p:txBody>
          <a:bodyPr wrap="square" lIns="0" tIns="0" rIns="0" bIns="0" rtlCol="0" anchor="ctr"/>
          <a:lstStyle/>
          <a:p>
            <a:pPr algn="l" indent="0" marL="0">
              <a:buNone/>
            </a:pPr>
            <a:r>
              <a:rPr lang="en-US" sz="1300" b="1" spc="300" kern="0" dirty="0">
                <a:solidFill>
                  <a:schemeClr val="accent5"/>
                </a:solidFill>
              </a:rPr>
              <a:t>MILESTONE 1  ·  PROJECT IDEA</a:t>
            </a:r>
            <a:endParaRPr lang="en-US" sz="1300" dirty="0"/>
          </a:p>
        </p:txBody>
      </p:sp>
      <p:sp>
        <p:nvSpPr>
          <p:cNvPr id="18" name="Text 0"/>
          <p:cNvSpPr/>
          <p:nvPr>
            <p:ph idx="100" type="title" hasCustomPrompt="1"/>
          </p:nvPr>
        </p:nvSpPr>
        <p:spPr>
          <a:xfrm>
            <a:off x="640080" y="1188720"/>
            <a:ext cx="4754880" cy="1920240"/>
          </a:xfrm>
          <a:prstGeom prst="rect">
            <a:avLst/>
          </a:prstGeom>
          <a:noFill/>
          <a:ln/>
        </p:spPr>
        <p:txBody>
          <a:bodyPr wrap="square" lIns="0" tIns="0" rIns="0" bIns="0" rtlCol="0" anchor="t"/>
          <a:lstStyle/>
          <a:p>
            <a:pPr algn="l" indent="0" marL="0">
              <a:buNone/>
            </a:pPr>
            <a:r>
              <a:rPr lang="en-US" sz="4200" b="1" dirty="0">
                <a:solidFill>
                  <a:schemeClr val="bg1"/>
                </a:solidFill>
              </a:rPr>
              <a:t>What makes an Android app succeed?</a:t>
            </a:r>
            <a:endParaRPr lang="en-US" sz="4200" dirty="0"/>
          </a:p>
        </p:txBody>
      </p:sp>
      <p:sp>
        <p:nvSpPr>
          <p:cNvPr id="19" name="Subtitle"/>
          <p:cNvSpPr txBox="1"/>
          <p:nvPr/>
        </p:nvSpPr>
        <p:spPr>
          <a:xfrm>
            <a:off x="640080" y="3291840"/>
            <a:ext cx="4572000" cy="685800"/>
          </a:xfrm>
          <a:prstGeom prst="rect">
            <a:avLst/>
          </a:prstGeom>
          <a:noFill/>
          <a:ln/>
        </p:spPr>
        <p:txBody>
          <a:bodyPr wrap="square" lIns="0" tIns="0" rIns="0" bIns="0" rtlCol="0" anchor="t"/>
          <a:lstStyle/>
          <a:p>
            <a:pPr algn="l" indent="0" marL="0">
              <a:buNone/>
            </a:pPr>
            <a:r>
              <a:rPr lang="en-US" sz="1800" dirty="0">
                <a:solidFill>
                  <a:schemeClr val="bg2"/>
                </a:solidFill>
              </a:rPr>
              <a:t>A data story built on 10,841 Google Play apps</a:t>
            </a:r>
            <a:endParaRPr lang="en-US" sz="1800" dirty="0"/>
          </a:p>
        </p:txBody>
      </p:sp>
      <p:sp>
        <p:nvSpPr>
          <p:cNvPr id="20" name="Facts line"/>
          <p:cNvSpPr txBox="1"/>
          <p:nvPr/>
        </p:nvSpPr>
        <p:spPr>
          <a:xfrm>
            <a:off x="640080" y="4297680"/>
            <a:ext cx="4754880" cy="274320"/>
          </a:xfrm>
          <a:prstGeom prst="rect">
            <a:avLst/>
          </a:prstGeom>
          <a:noFill/>
          <a:ln/>
        </p:spPr>
        <p:txBody>
          <a:bodyPr wrap="square" lIns="0" tIns="0" rIns="0" bIns="0" rtlCol="0" anchor="ctr"/>
          <a:lstStyle/>
          <a:p>
            <a:pPr algn="l" indent="0" marL="0">
              <a:buNone/>
            </a:pPr>
            <a:r>
              <a:rPr lang="en-US" sz="1200" dirty="0">
                <a:solidFill>
                  <a:schemeClr val="accent5"/>
                </a:solidFill>
              </a:rPr>
              <a:t>Google Play Store Apps dataset  ·  Kaggle  ·  collected in 2018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138160" cy="731520"/>
          </a:xfrm>
          <a:prstGeom prst="rect">
            <a:avLst/>
          </a:prstGeom>
          <a:noFill/>
          <a:ln/>
        </p:spPr>
        <p:txBody>
          <a:bodyPr wrap="square" lIns="0" tIns="0" rIns="0" bIns="0" rtlCol="0" anchor="ctr"/>
          <a:lstStyle/>
          <a:p>
            <a:pPr algn="l" indent="0" marL="0">
              <a:buNone/>
            </a:pPr>
            <a:r>
              <a:rPr lang="en-US" sz="3600" b="1" dirty="0">
                <a:solidFill>
                  <a:schemeClr val="tx1"/>
                </a:solidFill>
              </a:rPr>
              <a:t>It starts with a developer and an idea</a:t>
            </a:r>
            <a:endParaRPr lang="en-US" sz="3600" dirty="0"/>
          </a:p>
        </p:txBody>
      </p:sp>
      <p:sp>
        <p:nvSpPr>
          <p:cNvPr id="3" name="Story lead"/>
          <p:cNvSpPr txBox="1"/>
          <p:nvPr/>
        </p:nvSpPr>
        <p:spPr>
          <a:xfrm>
            <a:off x="502920" y="1143000"/>
            <a:ext cx="8138160" cy="411480"/>
          </a:xfrm>
          <a:prstGeom prst="rect">
            <a:avLst/>
          </a:prstGeom>
          <a:noFill/>
          <a:ln/>
        </p:spPr>
        <p:txBody>
          <a:bodyPr wrap="square" lIns="0" tIns="0" rIns="0" bIns="0" rtlCol="0" anchor="ctr"/>
          <a:lstStyle/>
          <a:p>
            <a:pPr algn="l" indent="0" marL="0">
              <a:buNone/>
            </a:pPr>
            <a:r>
              <a:rPr lang="en-US" sz="1800" dirty="0">
                <a:solidFill>
                  <a:schemeClr val="accent4"/>
                </a:solidFill>
              </a:rPr>
              <a:t>Before spending months building, they need answers:</a:t>
            </a:r>
            <a:endParaRPr lang="en-US" sz="1800" dirty="0"/>
          </a:p>
        </p:txBody>
      </p:sp>
      <p:sp>
        <p:nvSpPr>
          <p:cNvPr id="4" name="Question card 1"/>
          <p:cNvSpPr/>
          <p:nvPr/>
        </p:nvSpPr>
        <p:spPr>
          <a:xfrm>
            <a:off x="502920" y="1783080"/>
            <a:ext cx="1828800" cy="2377440"/>
          </a:xfrm>
          <a:prstGeom prst="roundRect">
            <a:avLst>
              <a:gd name="adj" fmla="val 6000"/>
            </a:avLst>
          </a:prstGeom>
          <a:solidFill>
            <a:schemeClr val="bg2"/>
          </a:solidFill>
          <a:ln/>
        </p:spPr>
      </p:sp>
      <p:sp>
        <p:nvSpPr>
          <p:cNvPr id="5" name="Question icon 1 circle"/>
          <p:cNvSpPr/>
          <p:nvPr/>
        </p:nvSpPr>
        <p:spPr>
          <a:xfrm>
            <a:off x="640080" y="1965960"/>
            <a:ext cx="731520" cy="731520"/>
          </a:xfrm>
          <a:prstGeom prst="ellipse">
            <a:avLst/>
          </a:prstGeom>
          <a:solidFill>
            <a:schemeClr val="accent6"/>
          </a:solidFill>
          <a:ln/>
        </p:spPr>
      </p:sp>
      <p:pic>
        <p:nvPicPr>
          <p:cNvPr id="6" name="Question icon 1" descr="Question icon 1">    </p:cNvPr>
          <p:cNvPicPr>
            <a:picLocks noChangeAspect="1"/>
          </p:cNvPicPr>
          <p:nvPr/>
        </p:nvPicPr>
        <p:blipFill>
          <a:blip r:embed="rId1"/>
          <a:stretch>
            <a:fillRect/>
          </a:stretch>
        </p:blipFill>
        <p:spPr>
          <a:xfrm>
            <a:off x="813816" y="2139696"/>
            <a:ext cx="384048" cy="384048"/>
          </a:xfrm>
          <a:prstGeom prst="rect">
            <a:avLst/>
          </a:prstGeom>
        </p:spPr>
      </p:pic>
      <p:sp>
        <p:nvSpPr>
          <p:cNvPr id="7" name="Question number 1"/>
          <p:cNvSpPr txBox="1"/>
          <p:nvPr/>
        </p:nvSpPr>
        <p:spPr>
          <a:xfrm>
            <a:off x="1783080" y="2011680"/>
            <a:ext cx="365760" cy="548640"/>
          </a:xfrm>
          <a:prstGeom prst="rect">
            <a:avLst/>
          </a:prstGeom>
          <a:noFill/>
          <a:ln/>
        </p:spPr>
        <p:txBody>
          <a:bodyPr wrap="square" lIns="0" tIns="0" rIns="0" bIns="0" rtlCol="0" anchor="ctr"/>
          <a:lstStyle/>
          <a:p>
            <a:pPr algn="r" indent="0" marL="0">
              <a:buNone/>
            </a:pPr>
            <a:r>
              <a:rPr lang="en-US" sz="3000" b="1" dirty="0">
                <a:solidFill>
                  <a:schemeClr val="accent1"/>
                </a:solidFill>
              </a:rPr>
              <a:t>1</a:t>
            </a:r>
            <a:endParaRPr lang="en-US" sz="3000" dirty="0"/>
          </a:p>
        </p:txBody>
      </p:sp>
      <p:sp>
        <p:nvSpPr>
          <p:cNvPr id="8" name="Question 1"/>
          <p:cNvSpPr txBox="1"/>
          <p:nvPr/>
        </p:nvSpPr>
        <p:spPr>
          <a:xfrm>
            <a:off x="685800" y="2880360"/>
            <a:ext cx="1463040" cy="822960"/>
          </a:xfrm>
          <a:prstGeom prst="rect">
            <a:avLst/>
          </a:prstGeom>
          <a:noFill/>
          <a:ln/>
        </p:spPr>
        <p:txBody>
          <a:bodyPr wrap="square" lIns="0" tIns="0" rIns="0" bIns="0" rtlCol="0" anchor="t"/>
          <a:lstStyle/>
          <a:p>
            <a:pPr algn="l" indent="0" marL="0">
              <a:buNone/>
            </a:pPr>
            <a:r>
              <a:rPr lang="en-US" sz="1700" b="1" dirty="0">
                <a:solidFill>
                  <a:schemeClr val="tx1"/>
                </a:solidFill>
              </a:rPr>
              <a:t>Which category should I choose?</a:t>
            </a:r>
            <a:endParaRPr lang="en-US" sz="1700" dirty="0"/>
          </a:p>
        </p:txBody>
      </p:sp>
      <p:sp>
        <p:nvSpPr>
          <p:cNvPr id="9" name="Column hint 1"/>
          <p:cNvSpPr txBox="1"/>
          <p:nvPr/>
        </p:nvSpPr>
        <p:spPr>
          <a:xfrm>
            <a:off x="685800" y="3749040"/>
            <a:ext cx="1463040" cy="274320"/>
          </a:xfrm>
          <a:prstGeom prst="rect">
            <a:avLst/>
          </a:prstGeom>
          <a:noFill/>
          <a:ln/>
        </p:spPr>
        <p:txBody>
          <a:bodyPr wrap="square" lIns="0" tIns="0" rIns="0" bIns="0" rtlCol="0" anchor="ctr"/>
          <a:lstStyle/>
          <a:p>
            <a:pPr algn="l" indent="0" marL="0">
              <a:buNone/>
            </a:pPr>
            <a:r>
              <a:rPr lang="en-US" sz="1200" dirty="0">
                <a:solidFill>
                  <a:schemeClr val="accent4"/>
                </a:solidFill>
              </a:rPr>
              <a:t>Category</a:t>
            </a:r>
            <a:endParaRPr lang="en-US" sz="1200" dirty="0"/>
          </a:p>
        </p:txBody>
      </p:sp>
      <p:sp>
        <p:nvSpPr>
          <p:cNvPr id="10" name="Question card 2"/>
          <p:cNvSpPr/>
          <p:nvPr/>
        </p:nvSpPr>
        <p:spPr>
          <a:xfrm>
            <a:off x="2606040" y="1783080"/>
            <a:ext cx="1828800" cy="2377440"/>
          </a:xfrm>
          <a:prstGeom prst="roundRect">
            <a:avLst>
              <a:gd name="adj" fmla="val 6000"/>
            </a:avLst>
          </a:prstGeom>
          <a:solidFill>
            <a:schemeClr val="bg2"/>
          </a:solidFill>
          <a:ln/>
        </p:spPr>
      </p:sp>
      <p:sp>
        <p:nvSpPr>
          <p:cNvPr id="11" name="Question icon 2 circle"/>
          <p:cNvSpPr/>
          <p:nvPr/>
        </p:nvSpPr>
        <p:spPr>
          <a:xfrm>
            <a:off x="2743200" y="1965960"/>
            <a:ext cx="731520" cy="731520"/>
          </a:xfrm>
          <a:prstGeom prst="ellipse">
            <a:avLst/>
          </a:prstGeom>
          <a:solidFill>
            <a:schemeClr val="accent2"/>
          </a:solidFill>
          <a:ln/>
        </p:spPr>
      </p:sp>
      <p:pic>
        <p:nvPicPr>
          <p:cNvPr id="12" name="Question icon 2" descr="Question icon 2">    </p:cNvPr>
          <p:cNvPicPr>
            <a:picLocks noChangeAspect="1"/>
          </p:cNvPicPr>
          <p:nvPr/>
        </p:nvPicPr>
        <p:blipFill>
          <a:blip r:embed="rId2"/>
          <a:stretch>
            <a:fillRect/>
          </a:stretch>
        </p:blipFill>
        <p:spPr>
          <a:xfrm>
            <a:off x="2916936" y="2139696"/>
            <a:ext cx="384048" cy="384048"/>
          </a:xfrm>
          <a:prstGeom prst="rect">
            <a:avLst/>
          </a:prstGeom>
        </p:spPr>
      </p:pic>
      <p:sp>
        <p:nvSpPr>
          <p:cNvPr id="13" name="Question number 2"/>
          <p:cNvSpPr txBox="1"/>
          <p:nvPr/>
        </p:nvSpPr>
        <p:spPr>
          <a:xfrm>
            <a:off x="3886200" y="2011680"/>
            <a:ext cx="365760" cy="548640"/>
          </a:xfrm>
          <a:prstGeom prst="rect">
            <a:avLst/>
          </a:prstGeom>
          <a:noFill/>
          <a:ln/>
        </p:spPr>
        <p:txBody>
          <a:bodyPr wrap="square" lIns="0" tIns="0" rIns="0" bIns="0" rtlCol="0" anchor="ctr"/>
          <a:lstStyle/>
          <a:p>
            <a:pPr algn="r" indent="0" marL="0">
              <a:buNone/>
            </a:pPr>
            <a:r>
              <a:rPr lang="en-US" sz="3000" b="1" dirty="0">
                <a:solidFill>
                  <a:schemeClr val="accent1"/>
                </a:solidFill>
              </a:rPr>
              <a:t>2</a:t>
            </a:r>
            <a:endParaRPr lang="en-US" sz="3000" dirty="0"/>
          </a:p>
        </p:txBody>
      </p:sp>
      <p:sp>
        <p:nvSpPr>
          <p:cNvPr id="14" name="Question 2"/>
          <p:cNvSpPr txBox="1"/>
          <p:nvPr/>
        </p:nvSpPr>
        <p:spPr>
          <a:xfrm>
            <a:off x="2788920" y="2880360"/>
            <a:ext cx="1463040" cy="822960"/>
          </a:xfrm>
          <a:prstGeom prst="rect">
            <a:avLst/>
          </a:prstGeom>
          <a:noFill/>
          <a:ln/>
        </p:spPr>
        <p:txBody>
          <a:bodyPr wrap="square" lIns="0" tIns="0" rIns="0" bIns="0" rtlCol="0" anchor="t"/>
          <a:lstStyle/>
          <a:p>
            <a:pPr algn="l" indent="0" marL="0">
              <a:buNone/>
            </a:pPr>
            <a:r>
              <a:rPr lang="en-US" sz="1700" b="1" dirty="0">
                <a:solidFill>
                  <a:schemeClr val="tx1"/>
                </a:solidFill>
              </a:rPr>
              <a:t>Free or paid?</a:t>
            </a:r>
            <a:endParaRPr lang="en-US" sz="1700" dirty="0"/>
          </a:p>
        </p:txBody>
      </p:sp>
      <p:sp>
        <p:nvSpPr>
          <p:cNvPr id="15" name="Column hint 2"/>
          <p:cNvSpPr txBox="1"/>
          <p:nvPr/>
        </p:nvSpPr>
        <p:spPr>
          <a:xfrm>
            <a:off x="2788920" y="3749040"/>
            <a:ext cx="1463040" cy="274320"/>
          </a:xfrm>
          <a:prstGeom prst="rect">
            <a:avLst/>
          </a:prstGeom>
          <a:noFill/>
          <a:ln/>
        </p:spPr>
        <p:txBody>
          <a:bodyPr wrap="square" lIns="0" tIns="0" rIns="0" bIns="0" rtlCol="0" anchor="ctr"/>
          <a:lstStyle/>
          <a:p>
            <a:pPr algn="l" indent="0" marL="0">
              <a:buNone/>
            </a:pPr>
            <a:r>
              <a:rPr lang="en-US" sz="1200" dirty="0">
                <a:solidFill>
                  <a:schemeClr val="accent4"/>
                </a:solidFill>
              </a:rPr>
              <a:t>Type  ·  Price</a:t>
            </a:r>
            <a:endParaRPr lang="en-US" sz="1200" dirty="0"/>
          </a:p>
        </p:txBody>
      </p:sp>
      <p:sp>
        <p:nvSpPr>
          <p:cNvPr id="16" name="Question card 3"/>
          <p:cNvSpPr/>
          <p:nvPr/>
        </p:nvSpPr>
        <p:spPr>
          <a:xfrm>
            <a:off x="4709160" y="1783080"/>
            <a:ext cx="1828800" cy="2377440"/>
          </a:xfrm>
          <a:prstGeom prst="roundRect">
            <a:avLst>
              <a:gd name="adj" fmla="val 6000"/>
            </a:avLst>
          </a:prstGeom>
          <a:solidFill>
            <a:schemeClr val="bg2"/>
          </a:solidFill>
          <a:ln/>
        </p:spPr>
      </p:sp>
      <p:sp>
        <p:nvSpPr>
          <p:cNvPr id="17" name="Question icon 3 circle"/>
          <p:cNvSpPr/>
          <p:nvPr/>
        </p:nvSpPr>
        <p:spPr>
          <a:xfrm>
            <a:off x="4846320" y="1965960"/>
            <a:ext cx="731520" cy="731520"/>
          </a:xfrm>
          <a:prstGeom prst="ellipse">
            <a:avLst/>
          </a:prstGeom>
          <a:solidFill>
            <a:schemeClr val="accent4"/>
          </a:solidFill>
          <a:ln/>
        </p:spPr>
      </p:sp>
      <p:pic>
        <p:nvPicPr>
          <p:cNvPr id="18" name="Question icon 3" descr="Question icon 3">    </p:cNvPr>
          <p:cNvPicPr>
            <a:picLocks noChangeAspect="1"/>
          </p:cNvPicPr>
          <p:nvPr/>
        </p:nvPicPr>
        <p:blipFill>
          <a:blip r:embed="rId3"/>
          <a:stretch>
            <a:fillRect/>
          </a:stretch>
        </p:blipFill>
        <p:spPr>
          <a:xfrm>
            <a:off x="5020056" y="2139696"/>
            <a:ext cx="384048" cy="384048"/>
          </a:xfrm>
          <a:prstGeom prst="rect">
            <a:avLst/>
          </a:prstGeom>
        </p:spPr>
      </p:pic>
      <p:sp>
        <p:nvSpPr>
          <p:cNvPr id="19" name="Question number 3"/>
          <p:cNvSpPr txBox="1"/>
          <p:nvPr/>
        </p:nvSpPr>
        <p:spPr>
          <a:xfrm>
            <a:off x="5989320" y="2011680"/>
            <a:ext cx="365760" cy="548640"/>
          </a:xfrm>
          <a:prstGeom prst="rect">
            <a:avLst/>
          </a:prstGeom>
          <a:noFill/>
          <a:ln/>
        </p:spPr>
        <p:txBody>
          <a:bodyPr wrap="square" lIns="0" tIns="0" rIns="0" bIns="0" rtlCol="0" anchor="ctr"/>
          <a:lstStyle/>
          <a:p>
            <a:pPr algn="r" indent="0" marL="0">
              <a:buNone/>
            </a:pPr>
            <a:r>
              <a:rPr lang="en-US" sz="3000" b="1" dirty="0">
                <a:solidFill>
                  <a:schemeClr val="accent1"/>
                </a:solidFill>
              </a:rPr>
              <a:t>3</a:t>
            </a:r>
            <a:endParaRPr lang="en-US" sz="3000" dirty="0"/>
          </a:p>
        </p:txBody>
      </p:sp>
      <p:sp>
        <p:nvSpPr>
          <p:cNvPr id="20" name="Question 3"/>
          <p:cNvSpPr txBox="1"/>
          <p:nvPr/>
        </p:nvSpPr>
        <p:spPr>
          <a:xfrm>
            <a:off x="4892040" y="2880360"/>
            <a:ext cx="1463040" cy="822960"/>
          </a:xfrm>
          <a:prstGeom prst="rect">
            <a:avLst/>
          </a:prstGeom>
          <a:noFill/>
          <a:ln/>
        </p:spPr>
        <p:txBody>
          <a:bodyPr wrap="square" lIns="0" tIns="0" rIns="0" bIns="0" rtlCol="0" anchor="t"/>
          <a:lstStyle/>
          <a:p>
            <a:pPr algn="l" indent="0" marL="0">
              <a:buNone/>
            </a:pPr>
            <a:r>
              <a:rPr lang="en-US" sz="1700" b="1" dirty="0">
                <a:solidFill>
                  <a:schemeClr val="tx1"/>
                </a:solidFill>
              </a:rPr>
              <a:t>How big should the app be?</a:t>
            </a:r>
            <a:endParaRPr lang="en-US" sz="1700" dirty="0"/>
          </a:p>
        </p:txBody>
      </p:sp>
      <p:sp>
        <p:nvSpPr>
          <p:cNvPr id="21" name="Column hint 3"/>
          <p:cNvSpPr txBox="1"/>
          <p:nvPr/>
        </p:nvSpPr>
        <p:spPr>
          <a:xfrm>
            <a:off x="4892040" y="3749040"/>
            <a:ext cx="1463040" cy="274320"/>
          </a:xfrm>
          <a:prstGeom prst="rect">
            <a:avLst/>
          </a:prstGeom>
          <a:noFill/>
          <a:ln/>
        </p:spPr>
        <p:txBody>
          <a:bodyPr wrap="square" lIns="0" tIns="0" rIns="0" bIns="0" rtlCol="0" anchor="ctr"/>
          <a:lstStyle/>
          <a:p>
            <a:pPr algn="l" indent="0" marL="0">
              <a:buNone/>
            </a:pPr>
            <a:r>
              <a:rPr lang="en-US" sz="1200" dirty="0">
                <a:solidFill>
                  <a:schemeClr val="accent4"/>
                </a:solidFill>
              </a:rPr>
              <a:t>Size  ·  Installs</a:t>
            </a:r>
            <a:endParaRPr lang="en-US" sz="1200" dirty="0"/>
          </a:p>
        </p:txBody>
      </p:sp>
      <p:sp>
        <p:nvSpPr>
          <p:cNvPr id="22" name="Question card 4"/>
          <p:cNvSpPr/>
          <p:nvPr/>
        </p:nvSpPr>
        <p:spPr>
          <a:xfrm>
            <a:off x="6812280" y="1783080"/>
            <a:ext cx="1828800" cy="2377440"/>
          </a:xfrm>
          <a:prstGeom prst="roundRect">
            <a:avLst>
              <a:gd name="adj" fmla="val 6000"/>
            </a:avLst>
          </a:prstGeom>
          <a:solidFill>
            <a:schemeClr val="bg2"/>
          </a:solidFill>
          <a:ln/>
        </p:spPr>
      </p:sp>
      <p:sp>
        <p:nvSpPr>
          <p:cNvPr id="23" name="Question icon 4 circle"/>
          <p:cNvSpPr/>
          <p:nvPr/>
        </p:nvSpPr>
        <p:spPr>
          <a:xfrm>
            <a:off x="6949440" y="1965960"/>
            <a:ext cx="731520" cy="731520"/>
          </a:xfrm>
          <a:prstGeom prst="ellipse">
            <a:avLst/>
          </a:prstGeom>
          <a:solidFill>
            <a:schemeClr val="accent1"/>
          </a:solidFill>
          <a:ln/>
        </p:spPr>
      </p:sp>
      <p:pic>
        <p:nvPicPr>
          <p:cNvPr id="24" name="Question icon 4" descr="Question icon 4">    </p:cNvPr>
          <p:cNvPicPr>
            <a:picLocks noChangeAspect="1"/>
          </p:cNvPicPr>
          <p:nvPr/>
        </p:nvPicPr>
        <p:blipFill>
          <a:blip r:embed="rId4"/>
          <a:stretch>
            <a:fillRect/>
          </a:stretch>
        </p:blipFill>
        <p:spPr>
          <a:xfrm>
            <a:off x="7123176" y="2139696"/>
            <a:ext cx="384048" cy="384048"/>
          </a:xfrm>
          <a:prstGeom prst="rect">
            <a:avLst/>
          </a:prstGeom>
        </p:spPr>
      </p:pic>
      <p:sp>
        <p:nvSpPr>
          <p:cNvPr id="25" name="Question number 4"/>
          <p:cNvSpPr txBox="1"/>
          <p:nvPr/>
        </p:nvSpPr>
        <p:spPr>
          <a:xfrm>
            <a:off x="8092440" y="2011680"/>
            <a:ext cx="365760" cy="548640"/>
          </a:xfrm>
          <a:prstGeom prst="rect">
            <a:avLst/>
          </a:prstGeom>
          <a:noFill/>
          <a:ln/>
        </p:spPr>
        <p:txBody>
          <a:bodyPr wrap="square" lIns="0" tIns="0" rIns="0" bIns="0" rtlCol="0" anchor="ctr"/>
          <a:lstStyle/>
          <a:p>
            <a:pPr algn="r" indent="0" marL="0">
              <a:buNone/>
            </a:pPr>
            <a:r>
              <a:rPr lang="en-US" sz="3000" b="1" dirty="0">
                <a:solidFill>
                  <a:schemeClr val="accent1"/>
                </a:solidFill>
              </a:rPr>
              <a:t>4</a:t>
            </a:r>
            <a:endParaRPr lang="en-US" sz="3000" dirty="0"/>
          </a:p>
        </p:txBody>
      </p:sp>
      <p:sp>
        <p:nvSpPr>
          <p:cNvPr id="26" name="Question 4"/>
          <p:cNvSpPr txBox="1"/>
          <p:nvPr/>
        </p:nvSpPr>
        <p:spPr>
          <a:xfrm>
            <a:off x="6995160" y="2880360"/>
            <a:ext cx="1463040" cy="822960"/>
          </a:xfrm>
          <a:prstGeom prst="rect">
            <a:avLst/>
          </a:prstGeom>
          <a:noFill/>
          <a:ln/>
        </p:spPr>
        <p:txBody>
          <a:bodyPr wrap="square" lIns="0" tIns="0" rIns="0" bIns="0" rtlCol="0" anchor="t"/>
          <a:lstStyle/>
          <a:p>
            <a:pPr algn="l" indent="0" marL="0">
              <a:buNone/>
            </a:pPr>
            <a:r>
              <a:rPr lang="en-US" sz="1700" b="1" dirty="0">
                <a:solidFill>
                  <a:schemeClr val="tx1"/>
                </a:solidFill>
              </a:rPr>
              <a:t>How do competitors rate?</a:t>
            </a:r>
            <a:endParaRPr lang="en-US" sz="1700" dirty="0"/>
          </a:p>
        </p:txBody>
      </p:sp>
      <p:sp>
        <p:nvSpPr>
          <p:cNvPr id="27" name="Column hint 4"/>
          <p:cNvSpPr txBox="1"/>
          <p:nvPr/>
        </p:nvSpPr>
        <p:spPr>
          <a:xfrm>
            <a:off x="6995160" y="3749040"/>
            <a:ext cx="1463040" cy="274320"/>
          </a:xfrm>
          <a:prstGeom prst="rect">
            <a:avLst/>
          </a:prstGeom>
          <a:noFill/>
          <a:ln/>
        </p:spPr>
        <p:txBody>
          <a:bodyPr wrap="square" lIns="0" tIns="0" rIns="0" bIns="0" rtlCol="0" anchor="ctr"/>
          <a:lstStyle/>
          <a:p>
            <a:pPr algn="l" indent="0" marL="0">
              <a:buNone/>
            </a:pPr>
            <a:r>
              <a:rPr lang="en-US" sz="1200" dirty="0">
                <a:solidFill>
                  <a:schemeClr val="accent4"/>
                </a:solidFill>
              </a:rPr>
              <a:t>Rating  ·  Reviews</a:t>
            </a:r>
            <a:endParaRPr lang="en-US" sz="1200" dirty="0"/>
          </a:p>
        </p:txBody>
      </p:sp>
      <p:sp>
        <p:nvSpPr>
          <p:cNvPr id="28" name="Bridge line"/>
          <p:cNvSpPr txBox="1"/>
          <p:nvPr/>
        </p:nvSpPr>
        <p:spPr>
          <a:xfrm>
            <a:off x="502920" y="4389120"/>
            <a:ext cx="8138160" cy="365760"/>
          </a:xfrm>
          <a:prstGeom prst="rect">
            <a:avLst/>
          </a:prstGeom>
          <a:noFill/>
          <a:ln/>
        </p:spPr>
        <p:txBody>
          <a:bodyPr wrap="square" lIns="0" tIns="0" rIns="0" bIns="0" rtlCol="0" anchor="ctr"/>
          <a:lstStyle/>
          <a:p>
            <a:pPr algn="l" indent="0" marL="0">
              <a:buNone/>
            </a:pPr>
            <a:r>
              <a:rPr lang="en-US" sz="1800" b="1" dirty="0">
                <a:solidFill>
                  <a:schemeClr val="accent6"/>
                </a:solidFill>
              </a:rPr>
              <a:t>The answers are hiding in the data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138160" cy="731520"/>
          </a:xfrm>
          <a:prstGeom prst="rect">
            <a:avLst/>
          </a:prstGeom>
          <a:noFill/>
          <a:ln/>
        </p:spPr>
        <p:txBody>
          <a:bodyPr wrap="square" lIns="0" tIns="0" rIns="0" bIns="0" rtlCol="0" anchor="ctr"/>
          <a:lstStyle/>
          <a:p>
            <a:pPr algn="l" indent="0" marL="0">
              <a:buNone/>
            </a:pPr>
            <a:r>
              <a:rPr lang="en-US" sz="3600" b="1" dirty="0">
                <a:solidFill>
                  <a:schemeClr val="tx1"/>
                </a:solidFill>
              </a:rPr>
              <a:t>The map: 10,841 apps, one row each</a:t>
            </a:r>
            <a:endParaRPr lang="en-US" sz="3600" dirty="0"/>
          </a:p>
        </p:txBody>
      </p:sp>
      <p:sp>
        <p:nvSpPr>
          <p:cNvPr id="3" name="Stat card 1"/>
          <p:cNvSpPr/>
          <p:nvPr/>
        </p:nvSpPr>
        <p:spPr>
          <a:xfrm>
            <a:off x="502920" y="1188720"/>
            <a:ext cx="3383280" cy="731520"/>
          </a:xfrm>
          <a:prstGeom prst="roundRect">
            <a:avLst>
              <a:gd name="adj" fmla="val 15000"/>
            </a:avLst>
          </a:prstGeom>
          <a:solidFill>
            <a:schemeClr val="bg2"/>
          </a:solidFill>
          <a:ln/>
        </p:spPr>
      </p:sp>
      <p:sp>
        <p:nvSpPr>
          <p:cNvPr id="4" name="Stat number 1"/>
          <p:cNvSpPr txBox="1"/>
          <p:nvPr/>
        </p:nvSpPr>
        <p:spPr>
          <a:xfrm>
            <a:off x="640080" y="1188720"/>
            <a:ext cx="1463040" cy="731520"/>
          </a:xfrm>
          <a:prstGeom prst="rect">
            <a:avLst/>
          </a:prstGeom>
          <a:noFill/>
          <a:ln/>
        </p:spPr>
        <p:txBody>
          <a:bodyPr wrap="square" lIns="0" tIns="0" rIns="0" bIns="0" rtlCol="0" anchor="ctr"/>
          <a:lstStyle/>
          <a:p>
            <a:pPr algn="l" indent="0" marL="0">
              <a:buNone/>
            </a:pPr>
            <a:r>
              <a:rPr lang="en-US" sz="3200" b="1" dirty="0">
                <a:solidFill>
                  <a:schemeClr val="accent6"/>
                </a:solidFill>
              </a:rPr>
              <a:t>10,841</a:t>
            </a:r>
            <a:endParaRPr lang="en-US" sz="3200" dirty="0"/>
          </a:p>
        </p:txBody>
      </p:sp>
      <p:sp>
        <p:nvSpPr>
          <p:cNvPr id="5" name="Stat label 1"/>
          <p:cNvSpPr txBox="1"/>
          <p:nvPr/>
        </p:nvSpPr>
        <p:spPr>
          <a:xfrm>
            <a:off x="2103120" y="1188720"/>
            <a:ext cx="1691640" cy="731520"/>
          </a:xfrm>
          <a:prstGeom prst="rect">
            <a:avLst/>
          </a:prstGeom>
          <a:noFill/>
          <a:ln/>
        </p:spPr>
        <p:txBody>
          <a:bodyPr wrap="square" lIns="0" tIns="0" rIns="0" bIns="0" rtlCol="0" anchor="ctr"/>
          <a:lstStyle/>
          <a:p>
            <a:pPr algn="l" indent="0" marL="0">
              <a:buNone/>
            </a:pPr>
            <a:r>
              <a:rPr lang="en-US" sz="1400" dirty="0">
                <a:solidFill>
                  <a:schemeClr val="tx1"/>
                </a:solidFill>
              </a:rPr>
              <a:t>apps, one per row</a:t>
            </a:r>
            <a:endParaRPr lang="en-US" sz="1400" dirty="0"/>
          </a:p>
        </p:txBody>
      </p:sp>
      <p:sp>
        <p:nvSpPr>
          <p:cNvPr id="6" name="Stat card 2"/>
          <p:cNvSpPr/>
          <p:nvPr/>
        </p:nvSpPr>
        <p:spPr>
          <a:xfrm>
            <a:off x="502920" y="2057400"/>
            <a:ext cx="3383280" cy="731520"/>
          </a:xfrm>
          <a:prstGeom prst="roundRect">
            <a:avLst>
              <a:gd name="adj" fmla="val 15000"/>
            </a:avLst>
          </a:prstGeom>
          <a:solidFill>
            <a:schemeClr val="bg2"/>
          </a:solidFill>
          <a:ln/>
        </p:spPr>
      </p:sp>
      <p:sp>
        <p:nvSpPr>
          <p:cNvPr id="7" name="Stat number 2"/>
          <p:cNvSpPr txBox="1"/>
          <p:nvPr/>
        </p:nvSpPr>
        <p:spPr>
          <a:xfrm>
            <a:off x="640080" y="2057400"/>
            <a:ext cx="1463040" cy="731520"/>
          </a:xfrm>
          <a:prstGeom prst="rect">
            <a:avLst/>
          </a:prstGeom>
          <a:noFill/>
          <a:ln/>
        </p:spPr>
        <p:txBody>
          <a:bodyPr wrap="square" lIns="0" tIns="0" rIns="0" bIns="0" rtlCol="0" anchor="ctr"/>
          <a:lstStyle/>
          <a:p>
            <a:pPr algn="l" indent="0" marL="0">
              <a:buNone/>
            </a:pPr>
            <a:r>
              <a:rPr lang="en-US" sz="3200" b="1" dirty="0">
                <a:solidFill>
                  <a:schemeClr val="accent6"/>
                </a:solidFill>
              </a:rPr>
              <a:t>13</a:t>
            </a:r>
            <a:endParaRPr lang="en-US" sz="3200" dirty="0"/>
          </a:p>
        </p:txBody>
      </p:sp>
      <p:sp>
        <p:nvSpPr>
          <p:cNvPr id="8" name="Stat label 2"/>
          <p:cNvSpPr txBox="1"/>
          <p:nvPr/>
        </p:nvSpPr>
        <p:spPr>
          <a:xfrm>
            <a:off x="2103120" y="2057400"/>
            <a:ext cx="1691640" cy="731520"/>
          </a:xfrm>
          <a:prstGeom prst="rect">
            <a:avLst/>
          </a:prstGeom>
          <a:noFill/>
          <a:ln/>
        </p:spPr>
        <p:txBody>
          <a:bodyPr wrap="square" lIns="0" tIns="0" rIns="0" bIns="0" rtlCol="0" anchor="ctr"/>
          <a:lstStyle/>
          <a:p>
            <a:pPr algn="l" indent="0" marL="0">
              <a:buNone/>
            </a:pPr>
            <a:r>
              <a:rPr lang="en-US" sz="1400" dirty="0">
                <a:solidFill>
                  <a:schemeClr val="tx1"/>
                </a:solidFill>
              </a:rPr>
              <a:t>columns of information</a:t>
            </a:r>
            <a:endParaRPr lang="en-US" sz="1400" dirty="0"/>
          </a:p>
        </p:txBody>
      </p:sp>
      <p:sp>
        <p:nvSpPr>
          <p:cNvPr id="9" name="Stat card 3"/>
          <p:cNvSpPr/>
          <p:nvPr/>
        </p:nvSpPr>
        <p:spPr>
          <a:xfrm>
            <a:off x="502920" y="2926080"/>
            <a:ext cx="3383280" cy="731520"/>
          </a:xfrm>
          <a:prstGeom prst="roundRect">
            <a:avLst>
              <a:gd name="adj" fmla="val 15000"/>
            </a:avLst>
          </a:prstGeom>
          <a:solidFill>
            <a:schemeClr val="bg2"/>
          </a:solidFill>
          <a:ln/>
        </p:spPr>
      </p:sp>
      <p:sp>
        <p:nvSpPr>
          <p:cNvPr id="10" name="Stat number 3"/>
          <p:cNvSpPr txBox="1"/>
          <p:nvPr/>
        </p:nvSpPr>
        <p:spPr>
          <a:xfrm>
            <a:off x="640080" y="2926080"/>
            <a:ext cx="1463040" cy="731520"/>
          </a:xfrm>
          <a:prstGeom prst="rect">
            <a:avLst/>
          </a:prstGeom>
          <a:noFill/>
          <a:ln/>
        </p:spPr>
        <p:txBody>
          <a:bodyPr wrap="square" lIns="0" tIns="0" rIns="0" bIns="0" rtlCol="0" anchor="ctr"/>
          <a:lstStyle/>
          <a:p>
            <a:pPr algn="l" indent="0" marL="0">
              <a:buNone/>
            </a:pPr>
            <a:r>
              <a:rPr lang="en-US" sz="3200" b="1" dirty="0">
                <a:solidFill>
                  <a:schemeClr val="accent6"/>
                </a:solidFill>
              </a:rPr>
              <a:t>2018</a:t>
            </a:r>
            <a:endParaRPr lang="en-US" sz="3200" dirty="0"/>
          </a:p>
        </p:txBody>
      </p:sp>
      <p:sp>
        <p:nvSpPr>
          <p:cNvPr id="11" name="Stat label 3"/>
          <p:cNvSpPr txBox="1"/>
          <p:nvPr/>
        </p:nvSpPr>
        <p:spPr>
          <a:xfrm>
            <a:off x="2103120" y="2926080"/>
            <a:ext cx="1691640" cy="731520"/>
          </a:xfrm>
          <a:prstGeom prst="rect">
            <a:avLst/>
          </a:prstGeom>
          <a:noFill/>
          <a:ln/>
        </p:spPr>
        <p:txBody>
          <a:bodyPr wrap="square" lIns="0" tIns="0" rIns="0" bIns="0" rtlCol="0" anchor="ctr"/>
          <a:lstStyle/>
          <a:p>
            <a:pPr algn="l" indent="0" marL="0">
              <a:buNone/>
            </a:pPr>
            <a:r>
              <a:rPr lang="en-US" sz="1400" dirty="0">
                <a:solidFill>
                  <a:schemeClr val="tx1"/>
                </a:solidFill>
              </a:rPr>
              <a:t>year the data was collected</a:t>
            </a:r>
            <a:endParaRPr lang="en-US" sz="1400" dirty="0"/>
          </a:p>
        </p:txBody>
      </p:sp>
      <p:sp>
        <p:nvSpPr>
          <p:cNvPr id="12" name="Chart card"/>
          <p:cNvSpPr/>
          <p:nvPr/>
        </p:nvSpPr>
        <p:spPr>
          <a:xfrm>
            <a:off x="4160520" y="1188720"/>
            <a:ext cx="4480560" cy="2468880"/>
          </a:xfrm>
          <a:prstGeom prst="roundRect">
            <a:avLst>
              <a:gd name="adj" fmla="val 4444"/>
            </a:avLst>
          </a:prstGeom>
          <a:solidFill>
            <a:schemeClr val="bg2"/>
          </a:solidFill>
          <a:ln/>
        </p:spPr>
      </p:sp>
      <p:graphicFrame>
        <p:nvGraphicFramePr>
          <p:cNvPr id="13" name="Chart 0" descr=""/>
          <p:cNvGraphicFramePr/>
          <p:nvPr/>
        </p:nvGraphicFramePr>
        <p:xfrm>
          <a:off x="4251960" y="1234440"/>
          <a:ext cx="4297680" cy="2377440"/>
        </p:xfrm>
        <a:graphic xmlns:a="http://schemas.openxmlformats.org/drawingml/2006/main">
          <a:graphicData uri="http://schemas.openxmlformats.org/drawingml/2006/chart">
            <c:chart xmlns:c="http://schemas.openxmlformats.org/drawingml/2006/chart" r:id="rId1"/>
          </a:graphicData>
        </a:graphic>
      </p:graphicFrame>
      <p:sp>
        <p:nvSpPr>
          <p:cNvPr id="14" name="Column pill App"/>
          <p:cNvSpPr/>
          <p:nvPr/>
        </p:nvSpPr>
        <p:spPr>
          <a:xfrm>
            <a:off x="502920" y="3886200"/>
            <a:ext cx="914400" cy="329184"/>
          </a:xfrm>
          <a:prstGeom prst="roundRect">
            <a:avLst>
              <a:gd name="adj" fmla="val 50000"/>
            </a:avLst>
          </a:prstGeom>
          <a:solidFill>
            <a:schemeClr val="accent6"/>
          </a:solidFill>
          <a:ln/>
        </p:spPr>
      </p:sp>
      <p:sp>
        <p:nvSpPr>
          <p:cNvPr id="15" name="Column name App"/>
          <p:cNvSpPr txBox="1"/>
          <p:nvPr/>
        </p:nvSpPr>
        <p:spPr>
          <a:xfrm>
            <a:off x="502920" y="3886200"/>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App</a:t>
            </a:r>
            <a:endParaRPr lang="en-US" sz="1200" dirty="0"/>
          </a:p>
        </p:txBody>
      </p:sp>
      <p:sp>
        <p:nvSpPr>
          <p:cNvPr id="16" name="Column pill Category"/>
          <p:cNvSpPr/>
          <p:nvPr/>
        </p:nvSpPr>
        <p:spPr>
          <a:xfrm>
            <a:off x="1533449" y="3886200"/>
            <a:ext cx="914400" cy="329184"/>
          </a:xfrm>
          <a:prstGeom prst="roundRect">
            <a:avLst>
              <a:gd name="adj" fmla="val 50000"/>
            </a:avLst>
          </a:prstGeom>
          <a:solidFill>
            <a:schemeClr val="accent6"/>
          </a:solidFill>
          <a:ln/>
        </p:spPr>
      </p:sp>
      <p:sp>
        <p:nvSpPr>
          <p:cNvPr id="17" name="Column name Category"/>
          <p:cNvSpPr txBox="1"/>
          <p:nvPr/>
        </p:nvSpPr>
        <p:spPr>
          <a:xfrm>
            <a:off x="1533449" y="3886200"/>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Category</a:t>
            </a:r>
            <a:endParaRPr lang="en-US" sz="1200" dirty="0"/>
          </a:p>
        </p:txBody>
      </p:sp>
      <p:sp>
        <p:nvSpPr>
          <p:cNvPr id="18" name="Column pill Rating"/>
          <p:cNvSpPr/>
          <p:nvPr/>
        </p:nvSpPr>
        <p:spPr>
          <a:xfrm>
            <a:off x="2563978" y="3886200"/>
            <a:ext cx="914400" cy="329184"/>
          </a:xfrm>
          <a:prstGeom prst="roundRect">
            <a:avLst>
              <a:gd name="adj" fmla="val 50000"/>
            </a:avLst>
          </a:prstGeom>
          <a:solidFill>
            <a:schemeClr val="accent6"/>
          </a:solidFill>
          <a:ln/>
        </p:spPr>
      </p:sp>
      <p:sp>
        <p:nvSpPr>
          <p:cNvPr id="19" name="Column name Rating"/>
          <p:cNvSpPr txBox="1"/>
          <p:nvPr/>
        </p:nvSpPr>
        <p:spPr>
          <a:xfrm>
            <a:off x="2563978" y="3886200"/>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Rating</a:t>
            </a:r>
            <a:endParaRPr lang="en-US" sz="1200" dirty="0"/>
          </a:p>
        </p:txBody>
      </p:sp>
      <p:sp>
        <p:nvSpPr>
          <p:cNvPr id="20" name="Column pill Reviews"/>
          <p:cNvSpPr/>
          <p:nvPr/>
        </p:nvSpPr>
        <p:spPr>
          <a:xfrm>
            <a:off x="3594506" y="3886200"/>
            <a:ext cx="914400" cy="329184"/>
          </a:xfrm>
          <a:prstGeom prst="roundRect">
            <a:avLst>
              <a:gd name="adj" fmla="val 50000"/>
            </a:avLst>
          </a:prstGeom>
          <a:solidFill>
            <a:schemeClr val="accent6"/>
          </a:solidFill>
          <a:ln/>
        </p:spPr>
      </p:sp>
      <p:sp>
        <p:nvSpPr>
          <p:cNvPr id="21" name="Column name Reviews"/>
          <p:cNvSpPr txBox="1"/>
          <p:nvPr/>
        </p:nvSpPr>
        <p:spPr>
          <a:xfrm>
            <a:off x="3594506" y="3886200"/>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Reviews</a:t>
            </a:r>
            <a:endParaRPr lang="en-US" sz="1200" dirty="0"/>
          </a:p>
        </p:txBody>
      </p:sp>
      <p:sp>
        <p:nvSpPr>
          <p:cNvPr id="22" name="Column pill Size"/>
          <p:cNvSpPr/>
          <p:nvPr/>
        </p:nvSpPr>
        <p:spPr>
          <a:xfrm>
            <a:off x="4625035" y="3886200"/>
            <a:ext cx="914400" cy="329184"/>
          </a:xfrm>
          <a:prstGeom prst="roundRect">
            <a:avLst>
              <a:gd name="adj" fmla="val 50000"/>
            </a:avLst>
          </a:prstGeom>
          <a:solidFill>
            <a:schemeClr val="accent6"/>
          </a:solidFill>
          <a:ln/>
        </p:spPr>
      </p:sp>
      <p:sp>
        <p:nvSpPr>
          <p:cNvPr id="23" name="Column name Size"/>
          <p:cNvSpPr txBox="1"/>
          <p:nvPr/>
        </p:nvSpPr>
        <p:spPr>
          <a:xfrm>
            <a:off x="4625035" y="3886200"/>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Size</a:t>
            </a:r>
            <a:endParaRPr lang="en-US" sz="1200" dirty="0"/>
          </a:p>
        </p:txBody>
      </p:sp>
      <p:sp>
        <p:nvSpPr>
          <p:cNvPr id="24" name="Column pill Installs"/>
          <p:cNvSpPr/>
          <p:nvPr/>
        </p:nvSpPr>
        <p:spPr>
          <a:xfrm>
            <a:off x="5655564" y="3886200"/>
            <a:ext cx="914400" cy="329184"/>
          </a:xfrm>
          <a:prstGeom prst="roundRect">
            <a:avLst>
              <a:gd name="adj" fmla="val 50000"/>
            </a:avLst>
          </a:prstGeom>
          <a:solidFill>
            <a:schemeClr val="accent6"/>
          </a:solidFill>
          <a:ln/>
        </p:spPr>
      </p:sp>
      <p:sp>
        <p:nvSpPr>
          <p:cNvPr id="25" name="Column name Installs"/>
          <p:cNvSpPr txBox="1"/>
          <p:nvPr/>
        </p:nvSpPr>
        <p:spPr>
          <a:xfrm>
            <a:off x="5655564" y="3886200"/>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Installs</a:t>
            </a:r>
            <a:endParaRPr lang="en-US" sz="1200" dirty="0"/>
          </a:p>
        </p:txBody>
      </p:sp>
      <p:sp>
        <p:nvSpPr>
          <p:cNvPr id="26" name="Column pill Type"/>
          <p:cNvSpPr/>
          <p:nvPr/>
        </p:nvSpPr>
        <p:spPr>
          <a:xfrm>
            <a:off x="6686093" y="3886200"/>
            <a:ext cx="914400" cy="329184"/>
          </a:xfrm>
          <a:prstGeom prst="roundRect">
            <a:avLst>
              <a:gd name="adj" fmla="val 50000"/>
            </a:avLst>
          </a:prstGeom>
          <a:solidFill>
            <a:schemeClr val="accent6"/>
          </a:solidFill>
          <a:ln/>
        </p:spPr>
      </p:sp>
      <p:sp>
        <p:nvSpPr>
          <p:cNvPr id="27" name="Column name Type"/>
          <p:cNvSpPr txBox="1"/>
          <p:nvPr/>
        </p:nvSpPr>
        <p:spPr>
          <a:xfrm>
            <a:off x="6686093" y="3886200"/>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Type</a:t>
            </a:r>
            <a:endParaRPr lang="en-US" sz="1200" dirty="0"/>
          </a:p>
        </p:txBody>
      </p:sp>
      <p:sp>
        <p:nvSpPr>
          <p:cNvPr id="28" name="Column pill Price"/>
          <p:cNvSpPr/>
          <p:nvPr/>
        </p:nvSpPr>
        <p:spPr>
          <a:xfrm>
            <a:off x="7716622" y="3886200"/>
            <a:ext cx="914400" cy="329184"/>
          </a:xfrm>
          <a:prstGeom prst="roundRect">
            <a:avLst>
              <a:gd name="adj" fmla="val 50000"/>
            </a:avLst>
          </a:prstGeom>
          <a:solidFill>
            <a:schemeClr val="accent6"/>
          </a:solidFill>
          <a:ln/>
        </p:spPr>
      </p:sp>
      <p:sp>
        <p:nvSpPr>
          <p:cNvPr id="29" name="Column name Price"/>
          <p:cNvSpPr txBox="1"/>
          <p:nvPr/>
        </p:nvSpPr>
        <p:spPr>
          <a:xfrm>
            <a:off x="7716622" y="3886200"/>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Price</a:t>
            </a:r>
            <a:endParaRPr lang="en-US" sz="1200" dirty="0"/>
          </a:p>
        </p:txBody>
      </p:sp>
      <p:sp>
        <p:nvSpPr>
          <p:cNvPr id="30" name="Source"/>
          <p:cNvSpPr txBox="1"/>
          <p:nvPr/>
        </p:nvSpPr>
        <p:spPr>
          <a:xfrm>
            <a:off x="502920" y="4389120"/>
            <a:ext cx="8138160" cy="274320"/>
          </a:xfrm>
          <a:prstGeom prst="rect">
            <a:avLst/>
          </a:prstGeom>
          <a:noFill/>
          <a:ln/>
        </p:spPr>
        <p:txBody>
          <a:bodyPr wrap="square" lIns="0" tIns="0" rIns="0" bIns="0" rtlCol="0" anchor="ctr"/>
          <a:lstStyle/>
          <a:p>
            <a:pPr algn="l" indent="0" marL="0">
              <a:buNone/>
            </a:pPr>
            <a:r>
              <a:rPr lang="en-US" sz="1100" dirty="0">
                <a:solidFill>
                  <a:schemeClr val="accent4"/>
                </a:solidFill>
              </a:rPr>
              <a:t>Pills show the key columns  ·  Source: Kaggle (Lavanya Gupta), CC BY-SA 4.0  ·  Type shares are rounded (Kaggle page)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8138160" cy="731520"/>
          </a:xfrm>
          <a:prstGeom prst="rect">
            <a:avLst/>
          </a:prstGeom>
          <a:noFill/>
          <a:ln/>
        </p:spPr>
        <p:txBody>
          <a:bodyPr wrap="square" lIns="0" tIns="0" rIns="0" bIns="0" rtlCol="0" anchor="ctr"/>
          <a:lstStyle/>
          <a:p>
            <a:pPr algn="l" indent="0" marL="0">
              <a:buNone/>
            </a:pPr>
            <a:r>
              <a:rPr lang="en-US" sz="3600" b="1" dirty="0">
                <a:solidFill>
                  <a:schemeClr val="tx1"/>
                </a:solidFill>
              </a:rPr>
              <a:t>Our journey in three chapters</a:t>
            </a:r>
            <a:endParaRPr lang="en-US" sz="3600" dirty="0"/>
          </a:p>
        </p:txBody>
      </p:sp>
      <p:sp>
        <p:nvSpPr>
          <p:cNvPr id="3" name="Chapter card 1"/>
          <p:cNvSpPr/>
          <p:nvPr/>
        </p:nvSpPr>
        <p:spPr>
          <a:xfrm>
            <a:off x="502920" y="1234440"/>
            <a:ext cx="2468880" cy="3291840"/>
          </a:xfrm>
          <a:prstGeom prst="roundRect">
            <a:avLst>
              <a:gd name="adj" fmla="val 4444"/>
            </a:avLst>
          </a:prstGeom>
          <a:solidFill>
            <a:schemeClr val="bg2"/>
          </a:solidFill>
          <a:ln/>
        </p:spPr>
      </p:sp>
      <p:sp>
        <p:nvSpPr>
          <p:cNvPr id="4" name="Chapter icon 1 circle"/>
          <p:cNvSpPr/>
          <p:nvPr/>
        </p:nvSpPr>
        <p:spPr>
          <a:xfrm>
            <a:off x="685800" y="1417320"/>
            <a:ext cx="640080" cy="640080"/>
          </a:xfrm>
          <a:prstGeom prst="ellipse">
            <a:avLst/>
          </a:prstGeom>
          <a:solidFill>
            <a:schemeClr val="accent6"/>
          </a:solidFill>
          <a:ln/>
        </p:spPr>
      </p:sp>
      <p:pic>
        <p:nvPicPr>
          <p:cNvPr id="5" name="Chapter icon 1" descr="Chapter icon 1">    </p:cNvPr>
          <p:cNvPicPr>
            <a:picLocks noChangeAspect="1"/>
          </p:cNvPicPr>
          <p:nvPr/>
        </p:nvPicPr>
        <p:blipFill>
          <a:blip r:embed="rId1"/>
          <a:stretch>
            <a:fillRect/>
          </a:stretch>
        </p:blipFill>
        <p:spPr>
          <a:xfrm>
            <a:off x="841248" y="1572768"/>
            <a:ext cx="329184" cy="329184"/>
          </a:xfrm>
          <a:prstGeom prst="rect">
            <a:avLst/>
          </a:prstGeom>
        </p:spPr>
      </p:pic>
      <p:sp>
        <p:nvSpPr>
          <p:cNvPr id="6" name="Chapter label 1"/>
          <p:cNvSpPr txBox="1"/>
          <p:nvPr/>
        </p:nvSpPr>
        <p:spPr>
          <a:xfrm>
            <a:off x="1463040" y="1508760"/>
            <a:ext cx="1280160" cy="274320"/>
          </a:xfrm>
          <a:prstGeom prst="rect">
            <a:avLst/>
          </a:prstGeom>
          <a:noFill/>
          <a:ln/>
        </p:spPr>
        <p:txBody>
          <a:bodyPr wrap="square" lIns="0" tIns="0" rIns="0" bIns="0" rtlCol="0" anchor="ctr"/>
          <a:lstStyle/>
          <a:p>
            <a:pPr algn="l" indent="0" marL="0">
              <a:buNone/>
            </a:pPr>
            <a:r>
              <a:rPr lang="en-US" sz="1200" b="1" spc="200" kern="0" dirty="0">
                <a:solidFill>
                  <a:schemeClr val="accent4"/>
                </a:solidFill>
              </a:rPr>
              <a:t>CHAPTER 1</a:t>
            </a:r>
            <a:endParaRPr lang="en-US" sz="1200" dirty="0"/>
          </a:p>
        </p:txBody>
      </p:sp>
      <p:sp>
        <p:nvSpPr>
          <p:cNvPr id="7" name="Status chip 1"/>
          <p:cNvSpPr/>
          <p:nvPr/>
        </p:nvSpPr>
        <p:spPr>
          <a:xfrm>
            <a:off x="1463040" y="1828800"/>
            <a:ext cx="868680" cy="274320"/>
          </a:xfrm>
          <a:prstGeom prst="roundRect">
            <a:avLst>
              <a:gd name="adj" fmla="val 50000"/>
            </a:avLst>
          </a:prstGeom>
          <a:solidFill>
            <a:schemeClr val="accent1"/>
          </a:solidFill>
          <a:ln/>
        </p:spPr>
      </p:sp>
      <p:sp>
        <p:nvSpPr>
          <p:cNvPr id="8" name="Status text 1"/>
          <p:cNvSpPr txBox="1"/>
          <p:nvPr/>
        </p:nvSpPr>
        <p:spPr>
          <a:xfrm>
            <a:off x="1463040" y="1828800"/>
            <a:ext cx="868680" cy="274320"/>
          </a:xfrm>
          <a:prstGeom prst="rect">
            <a:avLst/>
          </a:prstGeom>
          <a:noFill/>
          <a:ln/>
        </p:spPr>
        <p:txBody>
          <a:bodyPr wrap="square" lIns="0" tIns="0" rIns="0" bIns="0" rtlCol="0" anchor="ctr"/>
          <a:lstStyle/>
          <a:p>
            <a:pPr algn="ctr" indent="0" marL="0">
              <a:buNone/>
            </a:pPr>
            <a:r>
              <a:rPr lang="en-US" sz="1100" b="1" spc="100" kern="0" dirty="0">
                <a:solidFill>
                  <a:schemeClr val="bg1"/>
                </a:solidFill>
              </a:rPr>
              <a:t>DONE</a:t>
            </a:r>
            <a:endParaRPr lang="en-US" sz="1100" dirty="0"/>
          </a:p>
        </p:txBody>
      </p:sp>
      <p:sp>
        <p:nvSpPr>
          <p:cNvPr id="9" name="Chapter title 1"/>
          <p:cNvSpPr txBox="1"/>
          <p:nvPr/>
        </p:nvSpPr>
        <p:spPr>
          <a:xfrm>
            <a:off x="685800" y="2331720"/>
            <a:ext cx="2103120" cy="640080"/>
          </a:xfrm>
          <a:prstGeom prst="rect">
            <a:avLst/>
          </a:prstGeom>
          <a:noFill/>
          <a:ln/>
        </p:spPr>
        <p:txBody>
          <a:bodyPr wrap="square" lIns="0" tIns="0" rIns="0" bIns="0" rtlCol="0" anchor="t"/>
          <a:lstStyle/>
          <a:p>
            <a:pPr algn="l" indent="0" marL="0">
              <a:buNone/>
            </a:pPr>
            <a:r>
              <a:rPr lang="en-US" sz="1900" b="1" dirty="0">
                <a:solidFill>
                  <a:schemeClr val="tx1"/>
                </a:solidFill>
              </a:rPr>
              <a:t>Understand and clean</a:t>
            </a:r>
            <a:endParaRPr lang="en-US" sz="1900" dirty="0"/>
          </a:p>
        </p:txBody>
      </p:sp>
      <p:sp>
        <p:nvSpPr>
          <p:cNvPr id="10" name="Chapter text 1"/>
          <p:cNvSpPr txBox="1"/>
          <p:nvPr/>
        </p:nvSpPr>
        <p:spPr>
          <a:xfrm>
            <a:off x="685800" y="3017520"/>
            <a:ext cx="2103120" cy="868680"/>
          </a:xfrm>
          <a:prstGeom prst="rect">
            <a:avLst/>
          </a:prstGeom>
          <a:noFill/>
          <a:ln/>
        </p:spPr>
        <p:txBody>
          <a:bodyPr wrap="square" lIns="0" tIns="0" rIns="0" bIns="0" rtlCol="0" anchor="t"/>
          <a:lstStyle/>
          <a:p>
            <a:pPr algn="l" indent="0" marL="0">
              <a:buNone/>
            </a:pPr>
            <a:r>
              <a:rPr lang="en-US" sz="1400" dirty="0">
                <a:solidFill>
                  <a:schemeClr val="tx1"/>
                </a:solidFill>
              </a:rPr>
              <a:t>A broken row, 1,181 repeated apps, numbers stored as text and missing ratings.</a:t>
            </a:r>
            <a:endParaRPr lang="en-US" sz="1400" dirty="0"/>
          </a:p>
        </p:txBody>
      </p:sp>
      <p:sp>
        <p:nvSpPr>
          <p:cNvPr id="11" name="Chapter result 1"/>
          <p:cNvSpPr txBox="1"/>
          <p:nvPr/>
        </p:nvSpPr>
        <p:spPr>
          <a:xfrm>
            <a:off x="685800" y="4023360"/>
            <a:ext cx="2103120" cy="320040"/>
          </a:xfrm>
          <a:prstGeom prst="rect">
            <a:avLst/>
          </a:prstGeom>
          <a:noFill/>
          <a:ln/>
        </p:spPr>
        <p:txBody>
          <a:bodyPr wrap="square" lIns="0" tIns="0" rIns="0" bIns="0" rtlCol="0" anchor="ctr"/>
          <a:lstStyle/>
          <a:p>
            <a:pPr algn="l" indent="0" marL="0">
              <a:buNone/>
            </a:pPr>
            <a:r>
              <a:rPr lang="en-US" sz="1400" b="1" dirty="0">
                <a:solidFill>
                  <a:schemeClr val="accent6"/>
                </a:solidFill>
              </a:rPr>
              <a:t>10,841 → 9,656 clean apps</a:t>
            </a:r>
            <a:endParaRPr lang="en-US" sz="1400" dirty="0"/>
          </a:p>
        </p:txBody>
      </p:sp>
      <p:sp>
        <p:nvSpPr>
          <p:cNvPr id="12" name="Arrow 1"/>
          <p:cNvSpPr/>
          <p:nvPr/>
        </p:nvSpPr>
        <p:spPr>
          <a:xfrm>
            <a:off x="3026664" y="2743200"/>
            <a:ext cx="256032" cy="320040"/>
          </a:xfrm>
          <a:prstGeom prst="rightArrow">
            <a:avLst/>
          </a:prstGeom>
          <a:solidFill>
            <a:schemeClr val="accent5"/>
          </a:solidFill>
          <a:ln/>
        </p:spPr>
      </p:sp>
      <p:sp>
        <p:nvSpPr>
          <p:cNvPr id="13" name="Chapter card 2"/>
          <p:cNvSpPr/>
          <p:nvPr/>
        </p:nvSpPr>
        <p:spPr>
          <a:xfrm>
            <a:off x="3337560" y="1234440"/>
            <a:ext cx="2468880" cy="3291840"/>
          </a:xfrm>
          <a:prstGeom prst="roundRect">
            <a:avLst>
              <a:gd name="adj" fmla="val 4444"/>
            </a:avLst>
          </a:prstGeom>
          <a:solidFill>
            <a:schemeClr val="bg2"/>
          </a:solidFill>
          <a:ln/>
        </p:spPr>
      </p:sp>
      <p:sp>
        <p:nvSpPr>
          <p:cNvPr id="14" name="Chapter icon 2 circle"/>
          <p:cNvSpPr/>
          <p:nvPr/>
        </p:nvSpPr>
        <p:spPr>
          <a:xfrm>
            <a:off x="3520440" y="1417320"/>
            <a:ext cx="640080" cy="640080"/>
          </a:xfrm>
          <a:prstGeom prst="ellipse">
            <a:avLst/>
          </a:prstGeom>
          <a:solidFill>
            <a:schemeClr val="accent4"/>
          </a:solidFill>
          <a:ln/>
        </p:spPr>
      </p:sp>
      <p:pic>
        <p:nvPicPr>
          <p:cNvPr id="15" name="Chapter icon 2" descr="Chapter icon 2">    </p:cNvPr>
          <p:cNvPicPr>
            <a:picLocks noChangeAspect="1"/>
          </p:cNvPicPr>
          <p:nvPr/>
        </p:nvPicPr>
        <p:blipFill>
          <a:blip r:embed="rId2"/>
          <a:stretch>
            <a:fillRect/>
          </a:stretch>
        </p:blipFill>
        <p:spPr>
          <a:xfrm>
            <a:off x="3675888" y="1572768"/>
            <a:ext cx="329184" cy="329184"/>
          </a:xfrm>
          <a:prstGeom prst="rect">
            <a:avLst/>
          </a:prstGeom>
        </p:spPr>
      </p:pic>
      <p:sp>
        <p:nvSpPr>
          <p:cNvPr id="16" name="Chapter label 2"/>
          <p:cNvSpPr txBox="1"/>
          <p:nvPr/>
        </p:nvSpPr>
        <p:spPr>
          <a:xfrm>
            <a:off x="4297680" y="1508760"/>
            <a:ext cx="1280160" cy="274320"/>
          </a:xfrm>
          <a:prstGeom prst="rect">
            <a:avLst/>
          </a:prstGeom>
          <a:noFill/>
          <a:ln/>
        </p:spPr>
        <p:txBody>
          <a:bodyPr wrap="square" lIns="0" tIns="0" rIns="0" bIns="0" rtlCol="0" anchor="ctr"/>
          <a:lstStyle/>
          <a:p>
            <a:pPr algn="l" indent="0" marL="0">
              <a:buNone/>
            </a:pPr>
            <a:r>
              <a:rPr lang="en-US" sz="1200" b="1" spc="200" kern="0" dirty="0">
                <a:solidFill>
                  <a:schemeClr val="accent4"/>
                </a:solidFill>
              </a:rPr>
              <a:t>CHAPTER 2</a:t>
            </a:r>
            <a:endParaRPr lang="en-US" sz="1200" dirty="0"/>
          </a:p>
        </p:txBody>
      </p:sp>
      <p:sp>
        <p:nvSpPr>
          <p:cNvPr id="17" name="Status chip 2"/>
          <p:cNvSpPr/>
          <p:nvPr/>
        </p:nvSpPr>
        <p:spPr>
          <a:xfrm>
            <a:off x="4297680" y="1828800"/>
            <a:ext cx="868680" cy="274320"/>
          </a:xfrm>
          <a:prstGeom prst="roundRect">
            <a:avLst>
              <a:gd name="adj" fmla="val 50000"/>
            </a:avLst>
          </a:prstGeom>
          <a:solidFill>
            <a:schemeClr val="accent3"/>
          </a:solidFill>
          <a:ln/>
        </p:spPr>
      </p:sp>
      <p:sp>
        <p:nvSpPr>
          <p:cNvPr id="18" name="Status text 2"/>
          <p:cNvSpPr txBox="1"/>
          <p:nvPr/>
        </p:nvSpPr>
        <p:spPr>
          <a:xfrm>
            <a:off x="4297680" y="1828800"/>
            <a:ext cx="868680" cy="274320"/>
          </a:xfrm>
          <a:prstGeom prst="rect">
            <a:avLst/>
          </a:prstGeom>
          <a:noFill/>
          <a:ln/>
        </p:spPr>
        <p:txBody>
          <a:bodyPr wrap="square" lIns="0" tIns="0" rIns="0" bIns="0" rtlCol="0" anchor="ctr"/>
          <a:lstStyle/>
          <a:p>
            <a:pPr algn="ctr" indent="0" marL="0">
              <a:buNone/>
            </a:pPr>
            <a:r>
              <a:rPr lang="en-US" sz="1100" b="1" spc="100" kern="0" dirty="0">
                <a:solidFill>
                  <a:schemeClr val="tx1"/>
                </a:solidFill>
              </a:rPr>
              <a:t>NEXT</a:t>
            </a:r>
            <a:endParaRPr lang="en-US" sz="1100" dirty="0"/>
          </a:p>
        </p:txBody>
      </p:sp>
      <p:sp>
        <p:nvSpPr>
          <p:cNvPr id="19" name="Chapter title 2"/>
          <p:cNvSpPr txBox="1"/>
          <p:nvPr/>
        </p:nvSpPr>
        <p:spPr>
          <a:xfrm>
            <a:off x="3520440" y="2331720"/>
            <a:ext cx="2103120" cy="640080"/>
          </a:xfrm>
          <a:prstGeom prst="rect">
            <a:avLst/>
          </a:prstGeom>
          <a:noFill/>
          <a:ln/>
        </p:spPr>
        <p:txBody>
          <a:bodyPr wrap="square" lIns="0" tIns="0" rIns="0" bIns="0" rtlCol="0" anchor="t"/>
          <a:lstStyle/>
          <a:p>
            <a:pPr algn="l" indent="0" marL="0">
              <a:buNone/>
            </a:pPr>
            <a:r>
              <a:rPr lang="en-US" sz="1900" b="1" dirty="0">
                <a:solidFill>
                  <a:schemeClr val="tx1"/>
                </a:solidFill>
              </a:rPr>
              <a:t>Visualize the market</a:t>
            </a:r>
            <a:endParaRPr lang="en-US" sz="1900" dirty="0"/>
          </a:p>
        </p:txBody>
      </p:sp>
      <p:sp>
        <p:nvSpPr>
          <p:cNvPr id="20" name="Chapter text 2"/>
          <p:cNvSpPr txBox="1"/>
          <p:nvPr/>
        </p:nvSpPr>
        <p:spPr>
          <a:xfrm>
            <a:off x="3520440" y="3017520"/>
            <a:ext cx="2103120" cy="868680"/>
          </a:xfrm>
          <a:prstGeom prst="rect">
            <a:avLst/>
          </a:prstGeom>
          <a:noFill/>
          <a:ln/>
        </p:spPr>
        <p:txBody>
          <a:bodyPr wrap="square" lIns="0" tIns="0" rIns="0" bIns="0" rtlCol="0" anchor="t"/>
          <a:lstStyle/>
          <a:p>
            <a:pPr algn="l" indent="0" marL="0">
              <a:buNone/>
            </a:pPr>
            <a:r>
              <a:rPr lang="en-US" sz="1400" dirty="0">
                <a:solidFill>
                  <a:schemeClr val="tx1"/>
                </a:solidFill>
              </a:rPr>
              <a:t>Charts of categories, prices, ratings and installs (Module 3).</a:t>
            </a:r>
            <a:endParaRPr lang="en-US" sz="1400" dirty="0"/>
          </a:p>
        </p:txBody>
      </p:sp>
      <p:sp>
        <p:nvSpPr>
          <p:cNvPr id="21" name="Chapter result 2"/>
          <p:cNvSpPr txBox="1"/>
          <p:nvPr/>
        </p:nvSpPr>
        <p:spPr>
          <a:xfrm>
            <a:off x="3520440" y="4023360"/>
            <a:ext cx="2103120" cy="320040"/>
          </a:xfrm>
          <a:prstGeom prst="rect">
            <a:avLst/>
          </a:prstGeom>
          <a:noFill/>
          <a:ln/>
        </p:spPr>
        <p:txBody>
          <a:bodyPr wrap="square" lIns="0" tIns="0" rIns="0" bIns="0" rtlCol="0" anchor="ctr"/>
          <a:lstStyle/>
          <a:p>
            <a:pPr algn="l" indent="0" marL="0">
              <a:buNone/>
            </a:pPr>
            <a:r>
              <a:rPr lang="en-US" sz="1400" dirty="0">
                <a:solidFill>
                  <a:schemeClr val="accent4"/>
                </a:solidFill>
              </a:rPr>
              <a:t>Charts come next</a:t>
            </a:r>
            <a:endParaRPr lang="en-US" sz="1400" dirty="0"/>
          </a:p>
        </p:txBody>
      </p:sp>
      <p:sp>
        <p:nvSpPr>
          <p:cNvPr id="22" name="Arrow 2"/>
          <p:cNvSpPr/>
          <p:nvPr/>
        </p:nvSpPr>
        <p:spPr>
          <a:xfrm>
            <a:off x="5861304" y="2743200"/>
            <a:ext cx="256032" cy="320040"/>
          </a:xfrm>
          <a:prstGeom prst="rightArrow">
            <a:avLst/>
          </a:prstGeom>
          <a:solidFill>
            <a:schemeClr val="accent5"/>
          </a:solidFill>
          <a:ln/>
        </p:spPr>
      </p:sp>
      <p:sp>
        <p:nvSpPr>
          <p:cNvPr id="23" name="Chapter card 3"/>
          <p:cNvSpPr/>
          <p:nvPr/>
        </p:nvSpPr>
        <p:spPr>
          <a:xfrm>
            <a:off x="6172200" y="1234440"/>
            <a:ext cx="2468880" cy="3291840"/>
          </a:xfrm>
          <a:prstGeom prst="roundRect">
            <a:avLst>
              <a:gd name="adj" fmla="val 4444"/>
            </a:avLst>
          </a:prstGeom>
          <a:solidFill>
            <a:schemeClr val="bg2"/>
          </a:solidFill>
          <a:ln/>
        </p:spPr>
      </p:sp>
      <p:sp>
        <p:nvSpPr>
          <p:cNvPr id="24" name="Chapter icon 3 circle"/>
          <p:cNvSpPr/>
          <p:nvPr/>
        </p:nvSpPr>
        <p:spPr>
          <a:xfrm>
            <a:off x="6355080" y="1417320"/>
            <a:ext cx="640080" cy="640080"/>
          </a:xfrm>
          <a:prstGeom prst="ellipse">
            <a:avLst/>
          </a:prstGeom>
          <a:solidFill>
            <a:schemeClr val="accent2"/>
          </a:solidFill>
          <a:ln/>
        </p:spPr>
      </p:sp>
      <p:pic>
        <p:nvPicPr>
          <p:cNvPr id="25" name="Chapter icon 3" descr="Chapter icon 3">    </p:cNvPr>
          <p:cNvPicPr>
            <a:picLocks noChangeAspect="1"/>
          </p:cNvPicPr>
          <p:nvPr/>
        </p:nvPicPr>
        <p:blipFill>
          <a:blip r:embed="rId3"/>
          <a:stretch>
            <a:fillRect/>
          </a:stretch>
        </p:blipFill>
        <p:spPr>
          <a:xfrm>
            <a:off x="6510528" y="1572768"/>
            <a:ext cx="329184" cy="329184"/>
          </a:xfrm>
          <a:prstGeom prst="rect">
            <a:avLst/>
          </a:prstGeom>
        </p:spPr>
      </p:pic>
      <p:sp>
        <p:nvSpPr>
          <p:cNvPr id="26" name="Chapter label 3"/>
          <p:cNvSpPr txBox="1"/>
          <p:nvPr/>
        </p:nvSpPr>
        <p:spPr>
          <a:xfrm>
            <a:off x="7132320" y="1508760"/>
            <a:ext cx="1280160" cy="274320"/>
          </a:xfrm>
          <a:prstGeom prst="rect">
            <a:avLst/>
          </a:prstGeom>
          <a:noFill/>
          <a:ln/>
        </p:spPr>
        <p:txBody>
          <a:bodyPr wrap="square" lIns="0" tIns="0" rIns="0" bIns="0" rtlCol="0" anchor="ctr"/>
          <a:lstStyle/>
          <a:p>
            <a:pPr algn="l" indent="0" marL="0">
              <a:buNone/>
            </a:pPr>
            <a:r>
              <a:rPr lang="en-US" sz="1200" b="1" spc="200" kern="0" dirty="0">
                <a:solidFill>
                  <a:schemeClr val="accent4"/>
                </a:solidFill>
              </a:rPr>
              <a:t>CHAPTER 3</a:t>
            </a:r>
            <a:endParaRPr lang="en-US" sz="1200" dirty="0"/>
          </a:p>
        </p:txBody>
      </p:sp>
      <p:sp>
        <p:nvSpPr>
          <p:cNvPr id="27" name="Status chip 3"/>
          <p:cNvSpPr/>
          <p:nvPr/>
        </p:nvSpPr>
        <p:spPr>
          <a:xfrm>
            <a:off x="7132320" y="1828800"/>
            <a:ext cx="868680" cy="274320"/>
          </a:xfrm>
          <a:prstGeom prst="roundRect">
            <a:avLst>
              <a:gd name="adj" fmla="val 50000"/>
            </a:avLst>
          </a:prstGeom>
          <a:solidFill>
            <a:schemeClr val="bg1"/>
          </a:solidFill>
          <a:ln/>
        </p:spPr>
      </p:sp>
      <p:sp>
        <p:nvSpPr>
          <p:cNvPr id="28" name="Status text 3"/>
          <p:cNvSpPr txBox="1"/>
          <p:nvPr/>
        </p:nvSpPr>
        <p:spPr>
          <a:xfrm>
            <a:off x="7132320" y="1828800"/>
            <a:ext cx="868680" cy="274320"/>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LATER</a:t>
            </a:r>
            <a:endParaRPr lang="en-US" sz="1100" dirty="0"/>
          </a:p>
        </p:txBody>
      </p:sp>
      <p:sp>
        <p:nvSpPr>
          <p:cNvPr id="29" name="Chapter title 3"/>
          <p:cNvSpPr txBox="1"/>
          <p:nvPr/>
        </p:nvSpPr>
        <p:spPr>
          <a:xfrm>
            <a:off x="6355080" y="2331720"/>
            <a:ext cx="2103120" cy="640080"/>
          </a:xfrm>
          <a:prstGeom prst="rect">
            <a:avLst/>
          </a:prstGeom>
          <a:noFill/>
          <a:ln/>
        </p:spPr>
        <p:txBody>
          <a:bodyPr wrap="square" lIns="0" tIns="0" rIns="0" bIns="0" rtlCol="0" anchor="t"/>
          <a:lstStyle/>
          <a:p>
            <a:pPr algn="l" indent="0" marL="0">
              <a:buNone/>
            </a:pPr>
            <a:r>
              <a:rPr lang="en-US" sz="1900" b="1" dirty="0">
                <a:solidFill>
                  <a:schemeClr val="tx1"/>
                </a:solidFill>
              </a:rPr>
              <a:t>Draw conclusions</a:t>
            </a:r>
            <a:endParaRPr lang="en-US" sz="1900" dirty="0"/>
          </a:p>
        </p:txBody>
      </p:sp>
      <p:sp>
        <p:nvSpPr>
          <p:cNvPr id="30" name="Chapter text 3"/>
          <p:cNvSpPr txBox="1"/>
          <p:nvPr/>
        </p:nvSpPr>
        <p:spPr>
          <a:xfrm>
            <a:off x="6355080" y="3017520"/>
            <a:ext cx="2103120" cy="868680"/>
          </a:xfrm>
          <a:prstGeom prst="rect">
            <a:avLst/>
          </a:prstGeom>
          <a:noFill/>
          <a:ln/>
        </p:spPr>
        <p:txBody>
          <a:bodyPr wrap="square" lIns="0" tIns="0" rIns="0" bIns="0" rtlCol="0" anchor="t"/>
          <a:lstStyle/>
          <a:p>
            <a:pPr algn="l" indent="0" marL="0">
              <a:buNone/>
            </a:pPr>
            <a:r>
              <a:rPr lang="en-US" sz="1400" dirty="0">
                <a:solidFill>
                  <a:schemeClr val="tx1"/>
                </a:solidFill>
              </a:rPr>
              <a:t>Clear takeaways for developers, and maybe a simple prediction model.</a:t>
            </a:r>
            <a:endParaRPr lang="en-US" sz="1400" dirty="0"/>
          </a:p>
        </p:txBody>
      </p:sp>
      <p:sp>
        <p:nvSpPr>
          <p:cNvPr id="31" name="Chapter result 3"/>
          <p:cNvSpPr txBox="1"/>
          <p:nvPr/>
        </p:nvSpPr>
        <p:spPr>
          <a:xfrm>
            <a:off x="6355080" y="4023360"/>
            <a:ext cx="2103120" cy="320040"/>
          </a:xfrm>
          <a:prstGeom prst="rect">
            <a:avLst/>
          </a:prstGeom>
          <a:noFill/>
          <a:ln/>
        </p:spPr>
        <p:txBody>
          <a:bodyPr wrap="square" lIns="0" tIns="0" rIns="0" bIns="0" rtlCol="0" anchor="ctr"/>
          <a:lstStyle/>
          <a:p>
            <a:pPr algn="l" indent="0" marL="0">
              <a:buNone/>
            </a:pPr>
            <a:r>
              <a:rPr lang="en-US" sz="1400" dirty="0">
                <a:solidFill>
                  <a:schemeClr val="accent4"/>
                </a:solidFill>
              </a:rPr>
              <a:t>Answers come last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502920"/>
            <a:ext cx="8138160" cy="1280160"/>
          </a:xfrm>
          <a:prstGeom prst="rect">
            <a:avLst/>
          </a:prstGeom>
          <a:noFill/>
          <a:ln/>
        </p:spPr>
        <p:txBody>
          <a:bodyPr wrap="square" lIns="0" tIns="0" rIns="0" bIns="0" rtlCol="0" anchor="t"/>
          <a:lstStyle/>
          <a:p>
            <a:pPr algn="l" indent="0" marL="0">
              <a:buNone/>
            </a:pPr>
            <a:r>
              <a:rPr lang="en-US" sz="3400" b="1" dirty="0">
                <a:solidFill>
                  <a:schemeClr val="bg1"/>
                </a:solidFill>
              </a:rPr>
              <a:t>Our goal: turn 10,841 rows into decisions a developer can trust</a:t>
            </a:r>
            <a:endParaRPr lang="en-US" sz="3400" dirty="0"/>
          </a:p>
        </p:txBody>
      </p:sp>
      <p:sp>
        <p:nvSpPr>
          <p:cNvPr id="3" name="Deliverable card 1"/>
          <p:cNvSpPr/>
          <p:nvPr/>
        </p:nvSpPr>
        <p:spPr>
          <a:xfrm>
            <a:off x="502920" y="2011680"/>
            <a:ext cx="2468880" cy="2194560"/>
          </a:xfrm>
          <a:prstGeom prst="roundRect">
            <a:avLst>
              <a:gd name="adj" fmla="val 5000"/>
            </a:avLst>
          </a:prstGeom>
          <a:solidFill>
            <a:schemeClr val="accent6"/>
          </a:solidFill>
          <a:ln/>
        </p:spPr>
      </p:sp>
      <p:sp>
        <p:nvSpPr>
          <p:cNvPr id="4" name="Deliverable icon 1 circle"/>
          <p:cNvSpPr/>
          <p:nvPr/>
        </p:nvSpPr>
        <p:spPr>
          <a:xfrm>
            <a:off x="685800" y="2194560"/>
            <a:ext cx="640080" cy="640080"/>
          </a:xfrm>
          <a:prstGeom prst="ellipse">
            <a:avLst/>
          </a:prstGeom>
          <a:solidFill>
            <a:schemeClr val="accent1"/>
          </a:solidFill>
          <a:ln/>
        </p:spPr>
      </p:sp>
      <p:pic>
        <p:nvPicPr>
          <p:cNvPr id="5" name="Deliverable icon 1" descr="Deliverable icon 1">    </p:cNvPr>
          <p:cNvPicPr>
            <a:picLocks noChangeAspect="1"/>
          </p:cNvPicPr>
          <p:nvPr/>
        </p:nvPicPr>
        <p:blipFill>
          <a:blip r:embed="rId1"/>
          <a:stretch>
            <a:fillRect/>
          </a:stretch>
        </p:blipFill>
        <p:spPr>
          <a:xfrm>
            <a:off x="841248" y="2350008"/>
            <a:ext cx="329184" cy="329184"/>
          </a:xfrm>
          <a:prstGeom prst="rect">
            <a:avLst/>
          </a:prstGeom>
        </p:spPr>
      </p:pic>
      <p:sp>
        <p:nvSpPr>
          <p:cNvPr id="6" name="Deliverable 1"/>
          <p:cNvSpPr txBox="1"/>
          <p:nvPr/>
        </p:nvSpPr>
        <p:spPr>
          <a:xfrm>
            <a:off x="685800" y="2971800"/>
            <a:ext cx="2103120" cy="594360"/>
          </a:xfrm>
          <a:prstGeom prst="rect">
            <a:avLst/>
          </a:prstGeom>
          <a:noFill/>
          <a:ln/>
        </p:spPr>
        <p:txBody>
          <a:bodyPr wrap="square" lIns="0" tIns="0" rIns="0" bIns="0" rtlCol="0" anchor="t"/>
          <a:lstStyle/>
          <a:p>
            <a:pPr algn="l" indent="0" marL="0">
              <a:buNone/>
            </a:pPr>
            <a:r>
              <a:rPr lang="en-US" sz="1800" b="1" dirty="0">
                <a:solidFill>
                  <a:schemeClr val="bg1"/>
                </a:solidFill>
              </a:rPr>
              <a:t>Clean, documented data</a:t>
            </a:r>
            <a:endParaRPr lang="en-US" sz="1800" dirty="0"/>
          </a:p>
        </p:txBody>
      </p:sp>
      <p:sp>
        <p:nvSpPr>
          <p:cNvPr id="7" name="Deliverable detail 1"/>
          <p:cNvSpPr txBox="1"/>
          <p:nvPr/>
        </p:nvSpPr>
        <p:spPr>
          <a:xfrm>
            <a:off x="685800" y="3611880"/>
            <a:ext cx="2103120" cy="502920"/>
          </a:xfrm>
          <a:prstGeom prst="rect">
            <a:avLst/>
          </a:prstGeom>
          <a:noFill/>
          <a:ln/>
        </p:spPr>
        <p:txBody>
          <a:bodyPr wrap="square" lIns="0" tIns="0" rIns="0" bIns="0" rtlCol="0" anchor="t"/>
          <a:lstStyle/>
          <a:p>
            <a:pPr algn="l" indent="0" marL="0">
              <a:buNone/>
            </a:pPr>
            <a:r>
              <a:rPr lang="en-US" sz="1400" dirty="0">
                <a:solidFill>
                  <a:schemeClr val="bg2"/>
                </a:solidFill>
              </a:rPr>
              <a:t>Every cleaning decision explained</a:t>
            </a:r>
            <a:endParaRPr lang="en-US" sz="1400" dirty="0"/>
          </a:p>
        </p:txBody>
      </p:sp>
      <p:sp>
        <p:nvSpPr>
          <p:cNvPr id="8" name="Deliverable card 2"/>
          <p:cNvSpPr/>
          <p:nvPr/>
        </p:nvSpPr>
        <p:spPr>
          <a:xfrm>
            <a:off x="3337560" y="2011680"/>
            <a:ext cx="2468880" cy="2194560"/>
          </a:xfrm>
          <a:prstGeom prst="roundRect">
            <a:avLst>
              <a:gd name="adj" fmla="val 5000"/>
            </a:avLst>
          </a:prstGeom>
          <a:solidFill>
            <a:schemeClr val="accent6"/>
          </a:solidFill>
          <a:ln/>
        </p:spPr>
      </p:sp>
      <p:sp>
        <p:nvSpPr>
          <p:cNvPr id="9" name="Deliverable icon 2 circle"/>
          <p:cNvSpPr/>
          <p:nvPr/>
        </p:nvSpPr>
        <p:spPr>
          <a:xfrm>
            <a:off x="3520440" y="2194560"/>
            <a:ext cx="640080" cy="640080"/>
          </a:xfrm>
          <a:prstGeom prst="ellipse">
            <a:avLst/>
          </a:prstGeom>
          <a:solidFill>
            <a:schemeClr val="accent4"/>
          </a:solidFill>
          <a:ln/>
        </p:spPr>
      </p:sp>
      <p:pic>
        <p:nvPicPr>
          <p:cNvPr id="10" name="Deliverable icon 2" descr="Deliverable icon 2">    </p:cNvPr>
          <p:cNvPicPr>
            <a:picLocks noChangeAspect="1"/>
          </p:cNvPicPr>
          <p:nvPr/>
        </p:nvPicPr>
        <p:blipFill>
          <a:blip r:embed="rId2"/>
          <a:stretch>
            <a:fillRect/>
          </a:stretch>
        </p:blipFill>
        <p:spPr>
          <a:xfrm>
            <a:off x="3675888" y="2350008"/>
            <a:ext cx="329184" cy="329184"/>
          </a:xfrm>
          <a:prstGeom prst="rect">
            <a:avLst/>
          </a:prstGeom>
        </p:spPr>
      </p:pic>
      <p:sp>
        <p:nvSpPr>
          <p:cNvPr id="11" name="Deliverable 2"/>
          <p:cNvSpPr txBox="1"/>
          <p:nvPr/>
        </p:nvSpPr>
        <p:spPr>
          <a:xfrm>
            <a:off x="3520440" y="2971800"/>
            <a:ext cx="2103120" cy="594360"/>
          </a:xfrm>
          <a:prstGeom prst="rect">
            <a:avLst/>
          </a:prstGeom>
          <a:noFill/>
          <a:ln/>
        </p:spPr>
        <p:txBody>
          <a:bodyPr wrap="square" lIns="0" tIns="0" rIns="0" bIns="0" rtlCol="0" anchor="t"/>
          <a:lstStyle/>
          <a:p>
            <a:pPr algn="l" indent="0" marL="0">
              <a:buNone/>
            </a:pPr>
            <a:r>
              <a:rPr lang="en-US" sz="1800" b="1" dirty="0">
                <a:solidFill>
                  <a:schemeClr val="bg1"/>
                </a:solidFill>
              </a:rPr>
              <a:t>Charts that explain the market</a:t>
            </a:r>
            <a:endParaRPr lang="en-US" sz="1800" dirty="0"/>
          </a:p>
        </p:txBody>
      </p:sp>
      <p:sp>
        <p:nvSpPr>
          <p:cNvPr id="12" name="Deliverable detail 2"/>
          <p:cNvSpPr txBox="1"/>
          <p:nvPr/>
        </p:nvSpPr>
        <p:spPr>
          <a:xfrm>
            <a:off x="3520440" y="3611880"/>
            <a:ext cx="2103120" cy="502920"/>
          </a:xfrm>
          <a:prstGeom prst="rect">
            <a:avLst/>
          </a:prstGeom>
          <a:noFill/>
          <a:ln/>
        </p:spPr>
        <p:txBody>
          <a:bodyPr wrap="square" lIns="0" tIns="0" rIns="0" bIns="0" rtlCol="0" anchor="t"/>
          <a:lstStyle/>
          <a:p>
            <a:pPr algn="l" indent="0" marL="0">
              <a:buNone/>
            </a:pPr>
            <a:r>
              <a:rPr lang="en-US" sz="1400" dirty="0">
                <a:solidFill>
                  <a:schemeClr val="bg2"/>
                </a:solidFill>
              </a:rPr>
              <a:t>Categories, prices, ratings, installs</a:t>
            </a:r>
            <a:endParaRPr lang="en-US" sz="1400" dirty="0"/>
          </a:p>
        </p:txBody>
      </p:sp>
      <p:sp>
        <p:nvSpPr>
          <p:cNvPr id="13" name="Deliverable card 3"/>
          <p:cNvSpPr/>
          <p:nvPr/>
        </p:nvSpPr>
        <p:spPr>
          <a:xfrm>
            <a:off x="6172200" y="2011680"/>
            <a:ext cx="2468880" cy="2194560"/>
          </a:xfrm>
          <a:prstGeom prst="roundRect">
            <a:avLst>
              <a:gd name="adj" fmla="val 5000"/>
            </a:avLst>
          </a:prstGeom>
          <a:solidFill>
            <a:schemeClr val="accent6"/>
          </a:solidFill>
          <a:ln/>
        </p:spPr>
      </p:sp>
      <p:sp>
        <p:nvSpPr>
          <p:cNvPr id="14" name="Deliverable icon 3 circle"/>
          <p:cNvSpPr/>
          <p:nvPr/>
        </p:nvSpPr>
        <p:spPr>
          <a:xfrm>
            <a:off x="6355080" y="2194560"/>
            <a:ext cx="640080" cy="640080"/>
          </a:xfrm>
          <a:prstGeom prst="ellipse">
            <a:avLst/>
          </a:prstGeom>
          <a:solidFill>
            <a:schemeClr val="accent2"/>
          </a:solidFill>
          <a:ln/>
        </p:spPr>
      </p:sp>
      <p:pic>
        <p:nvPicPr>
          <p:cNvPr id="15" name="Deliverable icon 3" descr="Deliverable icon 3">    </p:cNvPr>
          <p:cNvPicPr>
            <a:picLocks noChangeAspect="1"/>
          </p:cNvPicPr>
          <p:nvPr/>
        </p:nvPicPr>
        <p:blipFill>
          <a:blip r:embed="rId3"/>
          <a:stretch>
            <a:fillRect/>
          </a:stretch>
        </p:blipFill>
        <p:spPr>
          <a:xfrm>
            <a:off x="6510528" y="2350008"/>
            <a:ext cx="329184" cy="329184"/>
          </a:xfrm>
          <a:prstGeom prst="rect">
            <a:avLst/>
          </a:prstGeom>
        </p:spPr>
      </p:pic>
      <p:sp>
        <p:nvSpPr>
          <p:cNvPr id="16" name="Deliverable 3"/>
          <p:cNvSpPr txBox="1"/>
          <p:nvPr/>
        </p:nvSpPr>
        <p:spPr>
          <a:xfrm>
            <a:off x="6355080" y="2971800"/>
            <a:ext cx="2103120" cy="594360"/>
          </a:xfrm>
          <a:prstGeom prst="rect">
            <a:avLst/>
          </a:prstGeom>
          <a:noFill/>
          <a:ln/>
        </p:spPr>
        <p:txBody>
          <a:bodyPr wrap="square" lIns="0" tIns="0" rIns="0" bIns="0" rtlCol="0" anchor="t"/>
          <a:lstStyle/>
          <a:p>
            <a:pPr algn="l" indent="0" marL="0">
              <a:buNone/>
            </a:pPr>
            <a:r>
              <a:rPr lang="en-US" sz="1800" b="1" dirty="0">
                <a:solidFill>
                  <a:schemeClr val="bg1"/>
                </a:solidFill>
              </a:rPr>
              <a:t>Clear takeaways</a:t>
            </a:r>
            <a:endParaRPr lang="en-US" sz="1800" dirty="0"/>
          </a:p>
        </p:txBody>
      </p:sp>
      <p:sp>
        <p:nvSpPr>
          <p:cNvPr id="17" name="Deliverable detail 3"/>
          <p:cNvSpPr txBox="1"/>
          <p:nvPr/>
        </p:nvSpPr>
        <p:spPr>
          <a:xfrm>
            <a:off x="6355080" y="3611880"/>
            <a:ext cx="2103120" cy="502920"/>
          </a:xfrm>
          <a:prstGeom prst="rect">
            <a:avLst/>
          </a:prstGeom>
          <a:noFill/>
          <a:ln/>
        </p:spPr>
        <p:txBody>
          <a:bodyPr wrap="square" lIns="0" tIns="0" rIns="0" bIns="0" rtlCol="0" anchor="t"/>
          <a:lstStyle/>
          <a:p>
            <a:pPr algn="l" indent="0" marL="0">
              <a:buNone/>
            </a:pPr>
            <a:r>
              <a:rPr lang="en-US" sz="1400" dirty="0">
                <a:solidFill>
                  <a:schemeClr val="bg2"/>
                </a:solidFill>
              </a:rPr>
              <a:t>What a developer should do with them</a:t>
            </a:r>
            <a:endParaRPr lang="en-US" sz="1400" dirty="0"/>
          </a:p>
        </p:txBody>
      </p:sp>
      <p:sp>
        <p:nvSpPr>
          <p:cNvPr id="18" name="Honest note"/>
          <p:cNvSpPr txBox="1"/>
          <p:nvPr/>
        </p:nvSpPr>
        <p:spPr>
          <a:xfrm>
            <a:off x="502920" y="4434840"/>
            <a:ext cx="8138160" cy="320040"/>
          </a:xfrm>
          <a:prstGeom prst="rect">
            <a:avLst/>
          </a:prstGeom>
          <a:noFill/>
          <a:ln/>
        </p:spPr>
        <p:txBody>
          <a:bodyPr wrap="square" lIns="0" tIns="0" rIns="0" bIns="0" rtlCol="0" anchor="ctr"/>
          <a:lstStyle/>
          <a:p>
            <a:pPr algn="l" indent="0" marL="0">
              <a:buNone/>
            </a:pPr>
            <a:r>
              <a:rPr lang="en-US" sz="1200" dirty="0">
                <a:solidFill>
                  <a:schemeClr val="accent5"/>
                </a:solidFill>
              </a:rPr>
              <a:t>Note: the data is from 2018 and Installs are ranges (like 1,000+), so our conclusions are approximate.</a:t>
            </a:r>
            <a:endParaRPr lang="en-US" sz="1200" dirty="0"/>
          </a:p>
        </p:txBody>
      </p:sp>
    </p:spTree>
  </p:cSld>
  <p:clrMapOvr>
    <a:masterClrMapping/>
  </p:clrMapOvr>
</p:sld>
</file>

<file path=ppt/theme/theme1.xml><?xml version="1.0" encoding="utf-8"?>
<a:theme xmlns:a="http://schemas.openxmlformats.org/drawingml/2006/main" name="Play Store Story EN">
  <a:themeElements>
    <a:clrScheme name="Play Store Story EN">
      <a:dk1>
        <a:srgbClr val="10302B"/>
      </a:dk1>
      <a:lt1>
        <a:srgbClr val="FFFFFF"/>
      </a:lt1>
      <a:dk2>
        <a:srgbClr val="0E5A4B"/>
      </a:dk2>
      <a:lt2>
        <a:srgbClr val="EAF5F0"/>
      </a:lt2>
      <a:accent1>
        <a:srgbClr val="1FA37A"/>
      </a:accent1>
      <a:accent2>
        <a:srgbClr val="FF7A59"/>
      </a:accent2>
      <a:accent3>
        <a:srgbClr val="F2C14E"/>
      </a:accent3>
      <a:accent4>
        <a:srgbClr val="5B7C99"/>
      </a:accent4>
      <a:accent5>
        <a:srgbClr val="8FD3B8"/>
      </a:accent5>
      <a:accent6>
        <a:srgbClr val="2E7D6B"/>
      </a:accent6>
      <a:hlink>
        <a:srgbClr val="1FA37A"/>
      </a:hlink>
      <a:folHlink>
        <a:srgbClr val="5B7C99"/>
      </a:folHlink>
    </a:clrScheme>
    <a:fontScheme name="Play Store Story 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makes an Android app succeed?</dc:title>
  <dc:subject>PptxGenJS Presentation</dc:subject>
  <dc:creator>PptxGenJS</dc:creator>
  <cp:lastModifiedBy>PptxGenJS</cp:lastModifiedBy>
  <cp:revision>1</cp:revision>
  <dcterms:created xsi:type="dcterms:W3CDTF">2026-10-10T07:34:17Z</dcterms:created>
  <dcterms:modified xsi:type="dcterms:W3CDTF">2026-10-10T07:34:17Z</dcterms:modified>
</cp:coreProperties>
</file>